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262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65A82">
              <a:alpha val="45000"/>
            </a:srgbClr>
          </a:solidFill>
          <a:ln/>
        </p:spPr>
        <p:txBody>
          <a:bodyPr/>
          <a:lstStyle/>
          <a:p>
            <a:endParaRPr lang="en-US"/>
          </a:p>
        </p:txBody>
      </p:sp>
      <p:sp>
        <p:nvSpPr>
          <p:cNvPr id="3" name="Shape 1"/>
          <p:cNvSpPr/>
          <p:nvPr/>
        </p:nvSpPr>
        <p:spPr>
          <a:xfrm>
            <a:off x="-1645920" y="4389120"/>
            <a:ext cx="3840480" cy="3840480"/>
          </a:xfrm>
          <a:prstGeom prst="ellipse">
            <a:avLst/>
          </a:prstGeom>
          <a:solidFill>
            <a:srgbClr val="1C7293">
              <a:alpha val="40000"/>
            </a:srgbClr>
          </a:solidFill>
          <a:ln/>
        </p:spPr>
        <p:txBody>
          <a:bodyPr/>
          <a:lstStyle/>
          <a:p>
            <a:endParaRPr lang="en-US"/>
          </a:p>
        </p:txBody>
      </p:sp>
      <p:sp>
        <p:nvSpPr>
          <p:cNvPr id="4" name="Text 2"/>
          <p:cNvSpPr/>
          <p:nvPr/>
        </p:nvSpPr>
        <p:spPr>
          <a:xfrm>
            <a:off x="822960" y="1965960"/>
            <a:ext cx="7315200"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A DATA FAIRNESS CASE STUDY</a:t>
            </a:r>
            <a:endParaRPr lang="en-US" sz="1300" dirty="0"/>
          </a:p>
        </p:txBody>
      </p:sp>
      <p:sp>
        <p:nvSpPr>
          <p:cNvPr id="5" name="Text 3"/>
          <p:cNvSpPr/>
          <p:nvPr/>
        </p:nvSpPr>
        <p:spPr>
          <a:xfrm>
            <a:off x="777240" y="2331720"/>
            <a:ext cx="9601200" cy="173736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Examining Adult Income</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Dataset Bias</a:t>
            </a:r>
            <a:endParaRPr lang="en-US" sz="4400" dirty="0"/>
          </a:p>
        </p:txBody>
      </p:sp>
      <p:sp>
        <p:nvSpPr>
          <p:cNvPr id="6" name="Text 4"/>
          <p:cNvSpPr/>
          <p:nvPr/>
        </p:nvSpPr>
        <p:spPr>
          <a:xfrm>
            <a:off x="822960" y="4160520"/>
            <a:ext cx="8046720" cy="54864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Exploratory data analysis of demographic and socioeconomic bias in the UCI Adult Income Dataset</a:t>
            </a:r>
            <a:endParaRPr lang="en-US" sz="1500" dirty="0"/>
          </a:p>
        </p:txBody>
      </p:sp>
      <p:sp>
        <p:nvSpPr>
          <p:cNvPr id="7" name="Shape 5"/>
          <p:cNvSpPr/>
          <p:nvPr/>
        </p:nvSpPr>
        <p:spPr>
          <a:xfrm>
            <a:off x="822960" y="4892040"/>
            <a:ext cx="1280160" cy="0"/>
          </a:xfrm>
          <a:prstGeom prst="line">
            <a:avLst/>
          </a:prstGeom>
          <a:noFill/>
          <a:ln w="38100">
            <a:solidFill>
              <a:srgbClr val="F2A65A"/>
            </a:solidFill>
            <a:prstDash val="solid"/>
          </a:ln>
        </p:spPr>
        <p:txBody>
          <a:bodyPr/>
          <a:lstStyle/>
          <a:p>
            <a:endParaRPr lang="en-US"/>
          </a:p>
        </p:txBody>
      </p:sp>
      <p:sp>
        <p:nvSpPr>
          <p:cNvPr id="8" name="Text 6"/>
          <p:cNvSpPr/>
          <p:nvPr/>
        </p:nvSpPr>
        <p:spPr>
          <a:xfrm>
            <a:off x="822960" y="5029200"/>
            <a:ext cx="5486400" cy="365760"/>
          </a:xfrm>
          <a:prstGeom prst="rect">
            <a:avLst/>
          </a:prstGeom>
          <a:noFill/>
          <a:ln/>
        </p:spPr>
        <p:txBody>
          <a:bodyPr wrap="square" rtlCol="0" anchor="ctr"/>
          <a:lstStyle/>
          <a:p>
            <a:pPr marL="0" indent="0">
              <a:buNone/>
            </a:pPr>
            <a:r>
              <a:rPr lang="en-US" sz="1200" dirty="0">
                <a:solidFill>
                  <a:srgbClr val="9FB3D9"/>
                </a:solidFill>
                <a:latin typeface="Calibri" pitchFamily="34" charset="0"/>
                <a:ea typeface="Calibri" pitchFamily="34" charset="-122"/>
                <a:cs typeface="Calibri" pitchFamily="34" charset="-120"/>
              </a:rPr>
              <a:t>Python  •  Pandas  •  NumPy  •  Matplotlib</a:t>
            </a:r>
            <a:endParaRPr lang="en-US" sz="1200" dirty="0"/>
          </a:p>
        </p:txBody>
      </p:sp>
      <p:sp>
        <p:nvSpPr>
          <p:cNvPr id="10" name="Text 2">
            <a:extLst>
              <a:ext uri="{FF2B5EF4-FFF2-40B4-BE49-F238E27FC236}">
                <a16:creationId xmlns:a16="http://schemas.microsoft.com/office/drawing/2014/main" id="{2213B901-6748-231B-F6BA-993B4809318E}"/>
              </a:ext>
            </a:extLst>
          </p:cNvPr>
          <p:cNvSpPr/>
          <p:nvPr/>
        </p:nvSpPr>
        <p:spPr>
          <a:xfrm>
            <a:off x="8640933" y="5565559"/>
            <a:ext cx="3175247" cy="365760"/>
          </a:xfrm>
          <a:prstGeom prst="rect">
            <a:avLst/>
          </a:prstGeom>
          <a:noFill/>
          <a:ln/>
        </p:spPr>
        <p:txBody>
          <a:bodyPr wrap="square" rtlCol="0" anchor="ctr"/>
          <a:lstStyle/>
          <a:p>
            <a:pPr marL="0" indent="0">
              <a:buNone/>
            </a:pPr>
            <a:r>
              <a:rPr lang="en-US" sz="1300" b="1" kern="0" spc="200" dirty="0">
                <a:solidFill>
                  <a:srgbClr val="F2A65A"/>
                </a:solidFill>
                <a:latin typeface="Calibri" pitchFamily="34" charset="0"/>
                <a:ea typeface="Calibri" pitchFamily="34" charset="-122"/>
                <a:cs typeface="Calibri" pitchFamily="34" charset="-120"/>
              </a:rPr>
              <a:t>VALABOJU SHIVA KUMAR CHARY</a:t>
            </a:r>
          </a:p>
          <a:p>
            <a:pPr marL="0" indent="0">
              <a:buNone/>
            </a:pPr>
            <a:r>
              <a:rPr lang="en-US" sz="1300" b="1" kern="0" spc="200" dirty="0">
                <a:solidFill>
                  <a:srgbClr val="F2A65A"/>
                </a:solidFill>
                <a:latin typeface="Calibri" pitchFamily="34" charset="0"/>
                <a:ea typeface="Calibri" pitchFamily="34" charset="-122"/>
                <a:cs typeface="Calibri" pitchFamily="34" charset="-120"/>
              </a:rPr>
              <a:t>DIVYA SAI SUKANYA INDALA</a:t>
            </a:r>
            <a:endParaRPr lang="en-US" sz="13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Project Overview</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Text 2"/>
          <p:cNvSpPr/>
          <p:nvPr/>
        </p:nvSpPr>
        <p:spPr>
          <a:xfrm>
            <a:off x="548640" y="1371600"/>
            <a:ext cx="6309360" cy="1920240"/>
          </a:xfrm>
          <a:prstGeom prst="rect">
            <a:avLst/>
          </a:prstGeom>
          <a:noFill/>
          <a:ln/>
        </p:spPr>
        <p:txBody>
          <a:bodyPr wrap="square" rtlCol="0" anchor="ctr"/>
          <a:lstStyle/>
          <a:p>
            <a:pPr marL="0" indent="0">
              <a:lnSpc>
                <a:spcPct val="125000"/>
              </a:lnSpc>
              <a:buNone/>
            </a:pPr>
            <a:r>
              <a:rPr lang="en-US" sz="1500" dirty="0">
                <a:solidFill>
                  <a:srgbClr val="1B2430"/>
                </a:solidFill>
                <a:latin typeface="Calibri" pitchFamily="34" charset="0"/>
                <a:ea typeface="Calibri" pitchFamily="34" charset="-122"/>
                <a:cs typeface="Calibri" pitchFamily="34" charset="-120"/>
              </a:rPr>
              <a:t>Machine learning models learn patterns directly from training data. When that data carries demographic imbalance, the resulting predictions can too. This project applies exploratory data analysis (EDA) to the Adult Income Dataset to surface bias before it reaches a model.</a:t>
            </a:r>
            <a:endParaRPr lang="en-US" sz="1500" dirty="0"/>
          </a:p>
        </p:txBody>
      </p:sp>
      <p:sp>
        <p:nvSpPr>
          <p:cNvPr id="5" name="Shape 3"/>
          <p:cNvSpPr/>
          <p:nvPr/>
        </p:nvSpPr>
        <p:spPr>
          <a:xfrm>
            <a:off x="548640" y="3520440"/>
            <a:ext cx="329184" cy="329184"/>
          </a:xfrm>
          <a:prstGeom prst="ellipse">
            <a:avLst/>
          </a:prstGeom>
          <a:solidFill>
            <a:srgbClr val="065A82"/>
          </a:solidFill>
          <a:ln/>
        </p:spPr>
        <p:txBody>
          <a:bodyPr/>
          <a:lstStyle/>
          <a:p>
            <a:endParaRPr lang="en-US"/>
          </a:p>
        </p:txBody>
      </p:sp>
      <p:sp>
        <p:nvSpPr>
          <p:cNvPr id="6" name="Text 4"/>
          <p:cNvSpPr/>
          <p:nvPr/>
        </p:nvSpPr>
        <p:spPr>
          <a:xfrm>
            <a:off x="548640" y="3520440"/>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51560" y="3474720"/>
            <a:ext cx="5760720" cy="45720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Gender  </a:t>
            </a:r>
            <a:r>
              <a:rPr lang="en-US" sz="1300" dirty="0">
                <a:solidFill>
                  <a:srgbClr val="1B2430"/>
                </a:solidFill>
                <a:latin typeface="Calibri" pitchFamily="34" charset="0"/>
                <a:ea typeface="Calibri" pitchFamily="34" charset="-122"/>
                <a:cs typeface="Calibri" pitchFamily="34" charset="-120"/>
              </a:rPr>
              <a:t>Compare income outcomes across male and female records</a:t>
            </a:r>
            <a:endParaRPr lang="en-US" sz="1300" dirty="0"/>
          </a:p>
        </p:txBody>
      </p:sp>
      <p:sp>
        <p:nvSpPr>
          <p:cNvPr id="8" name="Shape 6"/>
          <p:cNvSpPr/>
          <p:nvPr/>
        </p:nvSpPr>
        <p:spPr>
          <a:xfrm>
            <a:off x="548640" y="4087368"/>
            <a:ext cx="329184" cy="329184"/>
          </a:xfrm>
          <a:prstGeom prst="ellipse">
            <a:avLst/>
          </a:prstGeom>
          <a:solidFill>
            <a:srgbClr val="065A82"/>
          </a:solidFill>
          <a:ln/>
        </p:spPr>
        <p:txBody>
          <a:bodyPr/>
          <a:lstStyle/>
          <a:p>
            <a:endParaRPr lang="en-US"/>
          </a:p>
        </p:txBody>
      </p:sp>
      <p:sp>
        <p:nvSpPr>
          <p:cNvPr id="9" name="Text 7"/>
          <p:cNvSpPr/>
          <p:nvPr/>
        </p:nvSpPr>
        <p:spPr>
          <a:xfrm>
            <a:off x="548640" y="4087368"/>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51560" y="4041648"/>
            <a:ext cx="5760720" cy="45720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Race  </a:t>
            </a:r>
            <a:r>
              <a:rPr lang="en-US" sz="1300" dirty="0">
                <a:solidFill>
                  <a:srgbClr val="1B2430"/>
                </a:solidFill>
                <a:latin typeface="Calibri" pitchFamily="34" charset="0"/>
                <a:ea typeface="Calibri" pitchFamily="34" charset="-122"/>
                <a:cs typeface="Calibri" pitchFamily="34" charset="-120"/>
              </a:rPr>
              <a:t>Assess representation and income gaps across racial groups</a:t>
            </a:r>
            <a:endParaRPr lang="en-US" sz="1300" dirty="0"/>
          </a:p>
        </p:txBody>
      </p:sp>
      <p:sp>
        <p:nvSpPr>
          <p:cNvPr id="11" name="Shape 9"/>
          <p:cNvSpPr/>
          <p:nvPr/>
        </p:nvSpPr>
        <p:spPr>
          <a:xfrm>
            <a:off x="548640" y="4654296"/>
            <a:ext cx="329184" cy="329184"/>
          </a:xfrm>
          <a:prstGeom prst="ellipse">
            <a:avLst/>
          </a:prstGeom>
          <a:solidFill>
            <a:srgbClr val="065A82"/>
          </a:solidFill>
          <a:ln/>
        </p:spPr>
        <p:txBody>
          <a:bodyPr/>
          <a:lstStyle/>
          <a:p>
            <a:endParaRPr lang="en-US"/>
          </a:p>
        </p:txBody>
      </p:sp>
      <p:sp>
        <p:nvSpPr>
          <p:cNvPr id="12" name="Text 10"/>
          <p:cNvSpPr/>
          <p:nvPr/>
        </p:nvSpPr>
        <p:spPr>
          <a:xfrm>
            <a:off x="548640" y="4654296"/>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51560" y="4608576"/>
            <a:ext cx="5760720" cy="45720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Age &amp; Education  </a:t>
            </a:r>
            <a:r>
              <a:rPr lang="en-US" sz="1300" dirty="0">
                <a:solidFill>
                  <a:srgbClr val="1B2430"/>
                </a:solidFill>
                <a:latin typeface="Calibri" pitchFamily="34" charset="0"/>
                <a:ea typeface="Calibri" pitchFamily="34" charset="-122"/>
                <a:cs typeface="Calibri" pitchFamily="34" charset="-120"/>
              </a:rPr>
              <a:t>Examine how age and education levels shape the sample</a:t>
            </a:r>
            <a:endParaRPr lang="en-US" sz="1300" dirty="0"/>
          </a:p>
        </p:txBody>
      </p:sp>
      <p:sp>
        <p:nvSpPr>
          <p:cNvPr id="14" name="Shape 12"/>
          <p:cNvSpPr/>
          <p:nvPr/>
        </p:nvSpPr>
        <p:spPr>
          <a:xfrm>
            <a:off x="548640" y="5221224"/>
            <a:ext cx="329184" cy="329184"/>
          </a:xfrm>
          <a:prstGeom prst="ellipse">
            <a:avLst/>
          </a:prstGeom>
          <a:solidFill>
            <a:srgbClr val="065A82"/>
          </a:solidFill>
          <a:ln/>
        </p:spPr>
        <p:txBody>
          <a:bodyPr/>
          <a:lstStyle/>
          <a:p>
            <a:endParaRPr lang="en-US"/>
          </a:p>
        </p:txBody>
      </p:sp>
      <p:sp>
        <p:nvSpPr>
          <p:cNvPr id="15" name="Text 13"/>
          <p:cNvSpPr/>
          <p:nvPr/>
        </p:nvSpPr>
        <p:spPr>
          <a:xfrm>
            <a:off x="548640" y="5221224"/>
            <a:ext cx="329184"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51560" y="5175504"/>
            <a:ext cx="5760720" cy="45720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Income  </a:t>
            </a:r>
            <a:r>
              <a:rPr lang="en-US" sz="1300" dirty="0">
                <a:solidFill>
                  <a:srgbClr val="1B2430"/>
                </a:solidFill>
                <a:latin typeface="Calibri" pitchFamily="34" charset="0"/>
                <a:ea typeface="Calibri" pitchFamily="34" charset="-122"/>
                <a:cs typeface="Calibri" pitchFamily="34" charset="-120"/>
              </a:rPr>
              <a:t>Map how income splits across every demographic slice</a:t>
            </a:r>
            <a:endParaRPr lang="en-US" sz="1300" dirty="0"/>
          </a:p>
        </p:txBody>
      </p:sp>
      <p:sp>
        <p:nvSpPr>
          <p:cNvPr id="17" name="Shape 15"/>
          <p:cNvSpPr/>
          <p:nvPr/>
        </p:nvSpPr>
        <p:spPr>
          <a:xfrm>
            <a:off x="7315200" y="1280160"/>
            <a:ext cx="4343400" cy="5074920"/>
          </a:xfrm>
          <a:prstGeom prst="roundRect">
            <a:avLst>
              <a:gd name="adj" fmla="val 2526"/>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18" name="Image 0" descr="assets/fig-001.png"/>
          <p:cNvPicPr>
            <a:picLocks noChangeAspect="1"/>
          </p:cNvPicPr>
          <p:nvPr/>
        </p:nvPicPr>
        <p:blipFill>
          <a:blip r:embed="rId3"/>
          <a:stretch>
            <a:fillRect/>
          </a:stretch>
        </p:blipFill>
        <p:spPr>
          <a:xfrm>
            <a:off x="7589520" y="1554480"/>
            <a:ext cx="3794760" cy="3163824"/>
          </a:xfrm>
          <a:prstGeom prst="rect">
            <a:avLst/>
          </a:prstGeom>
        </p:spPr>
      </p:pic>
      <p:sp>
        <p:nvSpPr>
          <p:cNvPr id="19" name="Text 16"/>
          <p:cNvSpPr/>
          <p:nvPr/>
        </p:nvSpPr>
        <p:spPr>
          <a:xfrm>
            <a:off x="7589520" y="4846320"/>
            <a:ext cx="379476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1 · Income Distribution</a:t>
            </a:r>
            <a:endParaRPr lang="en-US" sz="1100" dirty="0"/>
          </a:p>
        </p:txBody>
      </p:sp>
      <p:sp>
        <p:nvSpPr>
          <p:cNvPr id="20" name="Text 17"/>
          <p:cNvSpPr/>
          <p:nvPr/>
        </p:nvSpPr>
        <p:spPr>
          <a:xfrm>
            <a:off x="7589520" y="5166360"/>
            <a:ext cx="3794760" cy="822960"/>
          </a:xfrm>
          <a:prstGeom prst="rect">
            <a:avLst/>
          </a:prstGeom>
          <a:noFill/>
          <a:ln/>
        </p:spPr>
        <p:txBody>
          <a:bodyPr wrap="square" rtlCol="0" anchor="ctr"/>
          <a:lstStyle/>
          <a:p>
            <a:pPr marL="0" indent="0" algn="ctr">
              <a:buNone/>
            </a:pPr>
            <a:r>
              <a:rPr lang="en-US" sz="1100" i="1" dirty="0">
                <a:solidFill>
                  <a:srgbClr val="6B7688"/>
                </a:solidFill>
                <a:latin typeface="Calibri" pitchFamily="34" charset="0"/>
                <a:ea typeface="Calibri" pitchFamily="34" charset="-122"/>
                <a:cs typeface="Calibri" pitchFamily="34" charset="-120"/>
              </a:rPr>
              <a:t>~ 32,561 records, split into ≤ $50K and &gt; $50K income bands</a:t>
            </a:r>
            <a:endParaRPr lang="en-US" sz="1100" dirty="0"/>
          </a:p>
        </p:txBody>
      </p:sp>
      <p:sp>
        <p:nvSpPr>
          <p:cNvPr id="21" name="Text 18"/>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22"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The Dataset</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Text 2"/>
          <p:cNvSpPr/>
          <p:nvPr/>
        </p:nvSpPr>
        <p:spPr>
          <a:xfrm>
            <a:off x="548640" y="1325880"/>
            <a:ext cx="6035040" cy="1005840"/>
          </a:xfrm>
          <a:prstGeom prst="rect">
            <a:avLst/>
          </a:prstGeom>
          <a:noFill/>
          <a:ln/>
        </p:spPr>
        <p:txBody>
          <a:bodyPr wrap="square" rtlCol="0" anchor="ctr"/>
          <a:lstStyle/>
          <a:p>
            <a:pPr marL="0" indent="0">
              <a:lnSpc>
                <a:spcPct val="125000"/>
              </a:lnSpc>
              <a:buNone/>
            </a:pPr>
            <a:r>
              <a:rPr lang="en-US" sz="1400" dirty="0">
                <a:solidFill>
                  <a:srgbClr val="1B2430"/>
                </a:solidFill>
                <a:latin typeface="Calibri" pitchFamily="34" charset="0"/>
                <a:ea typeface="Calibri" pitchFamily="34" charset="-122"/>
                <a:cs typeface="Calibri" pitchFamily="34" charset="-120"/>
              </a:rPr>
              <a:t>The UCI Adult Income Dataset (1994 U.S. Census) captures demographic and work-related attributes used to predict whether an individual earns above or below $50,000 a year.</a:t>
            </a:r>
            <a:endParaRPr lang="en-US" sz="1400" dirty="0"/>
          </a:p>
        </p:txBody>
      </p:sp>
      <p:sp>
        <p:nvSpPr>
          <p:cNvPr id="5" name="Shape 3"/>
          <p:cNvSpPr/>
          <p:nvPr/>
        </p:nvSpPr>
        <p:spPr>
          <a:xfrm>
            <a:off x="548640" y="2514600"/>
            <a:ext cx="1417320" cy="1188720"/>
          </a:xfrm>
          <a:prstGeom prst="roundRect">
            <a:avLst>
              <a:gd name="adj" fmla="val 7692"/>
            </a:avLst>
          </a:prstGeom>
          <a:solidFill>
            <a:srgbClr val="065A82"/>
          </a:solidFill>
          <a:ln/>
        </p:spPr>
        <p:txBody>
          <a:bodyPr/>
          <a:lstStyle/>
          <a:p>
            <a:endParaRPr lang="en-US"/>
          </a:p>
        </p:txBody>
      </p:sp>
      <p:sp>
        <p:nvSpPr>
          <p:cNvPr id="6" name="Text 4"/>
          <p:cNvSpPr/>
          <p:nvPr/>
        </p:nvSpPr>
        <p:spPr>
          <a:xfrm>
            <a:off x="548640" y="2606040"/>
            <a:ext cx="141732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32,561</a:t>
            </a:r>
            <a:endParaRPr lang="en-US" sz="2000" dirty="0"/>
          </a:p>
        </p:txBody>
      </p:sp>
      <p:sp>
        <p:nvSpPr>
          <p:cNvPr id="7" name="Text 5"/>
          <p:cNvSpPr/>
          <p:nvPr/>
        </p:nvSpPr>
        <p:spPr>
          <a:xfrm>
            <a:off x="548640" y="3108960"/>
            <a:ext cx="1417320" cy="45720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Records</a:t>
            </a:r>
            <a:endParaRPr lang="en-US" sz="1000" dirty="0"/>
          </a:p>
        </p:txBody>
      </p:sp>
      <p:sp>
        <p:nvSpPr>
          <p:cNvPr id="8" name="Shape 6"/>
          <p:cNvSpPr/>
          <p:nvPr/>
        </p:nvSpPr>
        <p:spPr>
          <a:xfrm>
            <a:off x="2103120" y="2514600"/>
            <a:ext cx="1417320" cy="1188720"/>
          </a:xfrm>
          <a:prstGeom prst="roundRect">
            <a:avLst>
              <a:gd name="adj" fmla="val 7692"/>
            </a:avLst>
          </a:prstGeom>
          <a:solidFill>
            <a:srgbClr val="065A82"/>
          </a:solidFill>
          <a:ln/>
        </p:spPr>
        <p:txBody>
          <a:bodyPr/>
          <a:lstStyle/>
          <a:p>
            <a:endParaRPr lang="en-US"/>
          </a:p>
        </p:txBody>
      </p:sp>
      <p:sp>
        <p:nvSpPr>
          <p:cNvPr id="9" name="Text 7"/>
          <p:cNvSpPr/>
          <p:nvPr/>
        </p:nvSpPr>
        <p:spPr>
          <a:xfrm>
            <a:off x="2103120" y="2606040"/>
            <a:ext cx="141732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15</a:t>
            </a:r>
            <a:endParaRPr lang="en-US" sz="2000" dirty="0"/>
          </a:p>
        </p:txBody>
      </p:sp>
      <p:sp>
        <p:nvSpPr>
          <p:cNvPr id="10" name="Text 8"/>
          <p:cNvSpPr/>
          <p:nvPr/>
        </p:nvSpPr>
        <p:spPr>
          <a:xfrm>
            <a:off x="2103120" y="3108960"/>
            <a:ext cx="1417320" cy="45720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Variables</a:t>
            </a:r>
            <a:endParaRPr lang="en-US" sz="1000" dirty="0"/>
          </a:p>
        </p:txBody>
      </p:sp>
      <p:sp>
        <p:nvSpPr>
          <p:cNvPr id="11" name="Shape 9"/>
          <p:cNvSpPr/>
          <p:nvPr/>
        </p:nvSpPr>
        <p:spPr>
          <a:xfrm>
            <a:off x="3657600" y="2514600"/>
            <a:ext cx="1417320" cy="1188720"/>
          </a:xfrm>
          <a:prstGeom prst="roundRect">
            <a:avLst>
              <a:gd name="adj" fmla="val 7692"/>
            </a:avLst>
          </a:prstGeom>
          <a:solidFill>
            <a:srgbClr val="065A82"/>
          </a:solidFill>
          <a:ln/>
        </p:spPr>
        <p:txBody>
          <a:bodyPr/>
          <a:lstStyle/>
          <a:p>
            <a:endParaRPr lang="en-US"/>
          </a:p>
        </p:txBody>
      </p:sp>
      <p:sp>
        <p:nvSpPr>
          <p:cNvPr id="12" name="Text 10"/>
          <p:cNvSpPr/>
          <p:nvPr/>
        </p:nvSpPr>
        <p:spPr>
          <a:xfrm>
            <a:off x="3657600" y="2606040"/>
            <a:ext cx="141732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38.6 yrs</a:t>
            </a:r>
            <a:endParaRPr lang="en-US" sz="2000" dirty="0"/>
          </a:p>
        </p:txBody>
      </p:sp>
      <p:sp>
        <p:nvSpPr>
          <p:cNvPr id="13" name="Text 11"/>
          <p:cNvSpPr/>
          <p:nvPr/>
        </p:nvSpPr>
        <p:spPr>
          <a:xfrm>
            <a:off x="3657600" y="3108960"/>
            <a:ext cx="1417320" cy="45720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Average age</a:t>
            </a:r>
            <a:endParaRPr lang="en-US" sz="1000" dirty="0"/>
          </a:p>
        </p:txBody>
      </p:sp>
      <p:sp>
        <p:nvSpPr>
          <p:cNvPr id="14" name="Shape 12"/>
          <p:cNvSpPr/>
          <p:nvPr/>
        </p:nvSpPr>
        <p:spPr>
          <a:xfrm>
            <a:off x="5212080" y="2514600"/>
            <a:ext cx="1417320" cy="1188720"/>
          </a:xfrm>
          <a:prstGeom prst="roundRect">
            <a:avLst>
              <a:gd name="adj" fmla="val 7692"/>
            </a:avLst>
          </a:prstGeom>
          <a:solidFill>
            <a:srgbClr val="065A82"/>
          </a:solidFill>
          <a:ln/>
        </p:spPr>
        <p:txBody>
          <a:bodyPr/>
          <a:lstStyle/>
          <a:p>
            <a:endParaRPr lang="en-US"/>
          </a:p>
        </p:txBody>
      </p:sp>
      <p:sp>
        <p:nvSpPr>
          <p:cNvPr id="15" name="Text 13"/>
          <p:cNvSpPr/>
          <p:nvPr/>
        </p:nvSpPr>
        <p:spPr>
          <a:xfrm>
            <a:off x="5212080" y="2606040"/>
            <a:ext cx="141732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40.4 hrs</a:t>
            </a:r>
            <a:endParaRPr lang="en-US" sz="2000" dirty="0"/>
          </a:p>
        </p:txBody>
      </p:sp>
      <p:sp>
        <p:nvSpPr>
          <p:cNvPr id="16" name="Text 14"/>
          <p:cNvSpPr/>
          <p:nvPr/>
        </p:nvSpPr>
        <p:spPr>
          <a:xfrm>
            <a:off x="5212080" y="3108960"/>
            <a:ext cx="1417320" cy="45720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Avg. hours / week</a:t>
            </a:r>
            <a:endParaRPr lang="en-US" sz="1000" dirty="0"/>
          </a:p>
        </p:txBody>
      </p:sp>
      <p:sp>
        <p:nvSpPr>
          <p:cNvPr id="17" name="Text 15"/>
          <p:cNvSpPr/>
          <p:nvPr/>
        </p:nvSpPr>
        <p:spPr>
          <a:xfrm>
            <a:off x="548640" y="3977640"/>
            <a:ext cx="6035040" cy="1371600"/>
          </a:xfrm>
          <a:prstGeom prst="rect">
            <a:avLst/>
          </a:prstGeom>
          <a:noFill/>
          <a:ln/>
        </p:spPr>
        <p:txBody>
          <a:bodyPr wrap="square" rtlCol="0" anchor="ctr"/>
          <a:lstStyle/>
          <a:p>
            <a:pPr marL="0" indent="0">
              <a:lnSpc>
                <a:spcPct val="130000"/>
              </a:lnSpc>
              <a:buNone/>
            </a:pPr>
            <a:r>
              <a:rPr lang="en-US" sz="1250" i="1" dirty="0">
                <a:solidFill>
                  <a:srgbClr val="6B7688"/>
                </a:solidFill>
                <a:latin typeface="Calibri" pitchFamily="34" charset="0"/>
                <a:ea typeface="Calibri" pitchFamily="34" charset="-122"/>
                <a:cs typeface="Calibri" pitchFamily="34" charset="-120"/>
              </a:rPr>
              <a:t>Includes: age, workclass, education, marital status, occupation, relationship, race, sex, capital gain/loss, hours per week, native country, and income class.</a:t>
            </a:r>
            <a:endParaRPr lang="en-US" sz="1250" dirty="0"/>
          </a:p>
        </p:txBody>
      </p:sp>
      <p:sp>
        <p:nvSpPr>
          <p:cNvPr id="18" name="Shape 16"/>
          <p:cNvSpPr/>
          <p:nvPr/>
        </p:nvSpPr>
        <p:spPr>
          <a:xfrm>
            <a:off x="6903720" y="1280160"/>
            <a:ext cx="4754880" cy="5074920"/>
          </a:xfrm>
          <a:prstGeom prst="roundRect">
            <a:avLst>
              <a:gd name="adj" fmla="val 2308"/>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19" name="Image 0" descr="assets/fig-000.png"/>
          <p:cNvPicPr>
            <a:picLocks noChangeAspect="1"/>
          </p:cNvPicPr>
          <p:nvPr/>
        </p:nvPicPr>
        <p:blipFill>
          <a:blip r:embed="rId3"/>
          <a:stretch>
            <a:fillRect/>
          </a:stretch>
        </p:blipFill>
        <p:spPr>
          <a:xfrm>
            <a:off x="7269480" y="1600200"/>
            <a:ext cx="3063240" cy="3419856"/>
          </a:xfrm>
          <a:prstGeom prst="rect">
            <a:avLst/>
          </a:prstGeom>
        </p:spPr>
      </p:pic>
      <p:sp>
        <p:nvSpPr>
          <p:cNvPr id="20" name="Text 17"/>
          <p:cNvSpPr/>
          <p:nvPr/>
        </p:nvSpPr>
        <p:spPr>
          <a:xfrm>
            <a:off x="6903720" y="5120640"/>
            <a:ext cx="475488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2 · Dataset Overview (df.info())</a:t>
            </a:r>
            <a:endParaRPr lang="en-US" sz="1100" dirty="0"/>
          </a:p>
        </p:txBody>
      </p:sp>
      <p:sp>
        <p:nvSpPr>
          <p:cNvPr id="21" name="Text 18"/>
          <p:cNvSpPr/>
          <p:nvPr/>
        </p:nvSpPr>
        <p:spPr>
          <a:xfrm>
            <a:off x="6903720" y="5394960"/>
            <a:ext cx="4754880" cy="457200"/>
          </a:xfrm>
          <a:prstGeom prst="rect">
            <a:avLst/>
          </a:prstGeom>
          <a:noFill/>
          <a:ln/>
        </p:spPr>
        <p:txBody>
          <a:bodyPr wrap="square" rtlCol="0" anchor="ctr"/>
          <a:lstStyle/>
          <a:p>
            <a:pPr marL="0" indent="0" algn="ctr">
              <a:buNone/>
            </a:pPr>
            <a:r>
              <a:rPr lang="en-US" sz="1100" i="1" dirty="0">
                <a:solidFill>
                  <a:srgbClr val="6B7688"/>
                </a:solidFill>
                <a:latin typeface="Calibri" pitchFamily="34" charset="0"/>
                <a:ea typeface="Calibri" pitchFamily="34" charset="-122"/>
                <a:cs typeface="Calibri" pitchFamily="34" charset="-120"/>
              </a:rPr>
              <a:t>No missing values across all 15 columns</a:t>
            </a:r>
            <a:endParaRPr lang="en-US" sz="1100" dirty="0"/>
          </a:p>
        </p:txBody>
      </p:sp>
      <p:sp>
        <p:nvSpPr>
          <p:cNvPr id="22" name="Text 19"/>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23" name="Text 2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Methodology</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600200"/>
            <a:ext cx="2606040" cy="4206240"/>
          </a:xfrm>
          <a:prstGeom prst="roundRect">
            <a:avLst>
              <a:gd name="adj" fmla="val 3509"/>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sp>
        <p:nvSpPr>
          <p:cNvPr id="5" name="Shape 3"/>
          <p:cNvSpPr/>
          <p:nvPr/>
        </p:nvSpPr>
        <p:spPr>
          <a:xfrm>
            <a:off x="822960" y="1920240"/>
            <a:ext cx="502920" cy="502920"/>
          </a:xfrm>
          <a:prstGeom prst="ellipse">
            <a:avLst/>
          </a:prstGeom>
          <a:solidFill>
            <a:srgbClr val="065A82"/>
          </a:solidFill>
          <a:ln/>
        </p:spPr>
        <p:txBody>
          <a:bodyPr/>
          <a:lstStyle/>
          <a:p>
            <a:endParaRPr lang="en-US"/>
          </a:p>
        </p:txBody>
      </p:sp>
      <p:sp>
        <p:nvSpPr>
          <p:cNvPr id="6" name="Text 4"/>
          <p:cNvSpPr/>
          <p:nvPr/>
        </p:nvSpPr>
        <p:spPr>
          <a:xfrm>
            <a:off x="822960"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77240" y="2651760"/>
            <a:ext cx="2148840" cy="64008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Load &amp; Validate</a:t>
            </a:r>
            <a:endParaRPr lang="en-US" sz="1600" dirty="0"/>
          </a:p>
        </p:txBody>
      </p:sp>
      <p:sp>
        <p:nvSpPr>
          <p:cNvPr id="8" name="Text 6"/>
          <p:cNvSpPr/>
          <p:nvPr/>
        </p:nvSpPr>
        <p:spPr>
          <a:xfrm>
            <a:off x="777240" y="3291840"/>
            <a:ext cx="2148840" cy="2286000"/>
          </a:xfrm>
          <a:prstGeom prst="rect">
            <a:avLst/>
          </a:prstGeom>
          <a:noFill/>
          <a:ln/>
        </p:spPr>
        <p:txBody>
          <a:bodyPr wrap="square" rtlCol="0" anchor="ctr"/>
          <a:lstStyle/>
          <a:p>
            <a:pPr marL="0" indent="0">
              <a:lnSpc>
                <a:spcPct val="130000"/>
              </a:lnSpc>
              <a:buNone/>
            </a:pPr>
            <a:r>
              <a:rPr lang="en-US" sz="1200" dirty="0">
                <a:solidFill>
                  <a:srgbClr val="6B7688"/>
                </a:solidFill>
                <a:latin typeface="Calibri" pitchFamily="34" charset="0"/>
                <a:ea typeface="Calibri" pitchFamily="34" charset="-122"/>
                <a:cs typeface="Calibri" pitchFamily="34" charset="-120"/>
              </a:rPr>
              <a:t>Load the dataset with Pandas and confirm there are no missing values across records.</a:t>
            </a:r>
            <a:endParaRPr lang="en-US" sz="1200" dirty="0"/>
          </a:p>
        </p:txBody>
      </p:sp>
      <p:sp>
        <p:nvSpPr>
          <p:cNvPr id="9" name="Shape 7"/>
          <p:cNvSpPr/>
          <p:nvPr/>
        </p:nvSpPr>
        <p:spPr>
          <a:xfrm>
            <a:off x="3410712" y="1600200"/>
            <a:ext cx="2606040" cy="4206240"/>
          </a:xfrm>
          <a:prstGeom prst="roundRect">
            <a:avLst>
              <a:gd name="adj" fmla="val 3509"/>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sp>
        <p:nvSpPr>
          <p:cNvPr id="10" name="Shape 8"/>
          <p:cNvSpPr/>
          <p:nvPr/>
        </p:nvSpPr>
        <p:spPr>
          <a:xfrm>
            <a:off x="3685032" y="1920240"/>
            <a:ext cx="502920" cy="502920"/>
          </a:xfrm>
          <a:prstGeom prst="ellipse">
            <a:avLst/>
          </a:prstGeom>
          <a:solidFill>
            <a:srgbClr val="1C7293"/>
          </a:solidFill>
          <a:ln/>
        </p:spPr>
        <p:txBody>
          <a:bodyPr/>
          <a:lstStyle/>
          <a:p>
            <a:endParaRPr lang="en-US"/>
          </a:p>
        </p:txBody>
      </p:sp>
      <p:sp>
        <p:nvSpPr>
          <p:cNvPr id="11" name="Text 9"/>
          <p:cNvSpPr/>
          <p:nvPr/>
        </p:nvSpPr>
        <p:spPr>
          <a:xfrm>
            <a:off x="3685032"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639312" y="2651760"/>
            <a:ext cx="2148840" cy="64008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Explore Demographics</a:t>
            </a:r>
            <a:endParaRPr lang="en-US" sz="1600" dirty="0"/>
          </a:p>
        </p:txBody>
      </p:sp>
      <p:sp>
        <p:nvSpPr>
          <p:cNvPr id="13" name="Text 11"/>
          <p:cNvSpPr/>
          <p:nvPr/>
        </p:nvSpPr>
        <p:spPr>
          <a:xfrm>
            <a:off x="3639312" y="3291840"/>
            <a:ext cx="2148840" cy="2286000"/>
          </a:xfrm>
          <a:prstGeom prst="rect">
            <a:avLst/>
          </a:prstGeom>
          <a:noFill/>
          <a:ln/>
        </p:spPr>
        <p:txBody>
          <a:bodyPr wrap="square" rtlCol="0" anchor="ctr"/>
          <a:lstStyle/>
          <a:p>
            <a:pPr marL="0" indent="0">
              <a:lnSpc>
                <a:spcPct val="130000"/>
              </a:lnSpc>
              <a:buNone/>
            </a:pPr>
            <a:r>
              <a:rPr lang="en-US" sz="1200" dirty="0">
                <a:solidFill>
                  <a:srgbClr val="6B7688"/>
                </a:solidFill>
                <a:latin typeface="Calibri" pitchFamily="34" charset="0"/>
                <a:ea typeface="Calibri" pitchFamily="34" charset="-122"/>
                <a:cs typeface="Calibri" pitchFamily="34" charset="-120"/>
              </a:rPr>
              <a:t>Profile gender, race, age, and education distributions using descriptive statistics.</a:t>
            </a:r>
            <a:endParaRPr lang="en-US" sz="1200" dirty="0"/>
          </a:p>
        </p:txBody>
      </p:sp>
      <p:sp>
        <p:nvSpPr>
          <p:cNvPr id="14" name="Shape 12"/>
          <p:cNvSpPr/>
          <p:nvPr/>
        </p:nvSpPr>
        <p:spPr>
          <a:xfrm>
            <a:off x="6272784" y="1600200"/>
            <a:ext cx="2606040" cy="4206240"/>
          </a:xfrm>
          <a:prstGeom prst="roundRect">
            <a:avLst>
              <a:gd name="adj" fmla="val 3509"/>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sp>
        <p:nvSpPr>
          <p:cNvPr id="15" name="Shape 13"/>
          <p:cNvSpPr/>
          <p:nvPr/>
        </p:nvSpPr>
        <p:spPr>
          <a:xfrm>
            <a:off x="6547104" y="1920240"/>
            <a:ext cx="502920" cy="502920"/>
          </a:xfrm>
          <a:prstGeom prst="ellipse">
            <a:avLst/>
          </a:prstGeom>
          <a:solidFill>
            <a:srgbClr val="065A82"/>
          </a:solidFill>
          <a:ln/>
        </p:spPr>
        <p:txBody>
          <a:bodyPr/>
          <a:lstStyle/>
          <a:p>
            <a:endParaRPr lang="en-US"/>
          </a:p>
        </p:txBody>
      </p:sp>
      <p:sp>
        <p:nvSpPr>
          <p:cNvPr id="16" name="Text 14"/>
          <p:cNvSpPr/>
          <p:nvPr/>
        </p:nvSpPr>
        <p:spPr>
          <a:xfrm>
            <a:off x="6547104"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501384" y="2651760"/>
            <a:ext cx="2148840" cy="64008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Visualize</a:t>
            </a:r>
            <a:endParaRPr lang="en-US" sz="1600" dirty="0"/>
          </a:p>
        </p:txBody>
      </p:sp>
      <p:sp>
        <p:nvSpPr>
          <p:cNvPr id="18" name="Text 16"/>
          <p:cNvSpPr/>
          <p:nvPr/>
        </p:nvSpPr>
        <p:spPr>
          <a:xfrm>
            <a:off x="6501384" y="3291840"/>
            <a:ext cx="2148840" cy="2286000"/>
          </a:xfrm>
          <a:prstGeom prst="rect">
            <a:avLst/>
          </a:prstGeom>
          <a:noFill/>
          <a:ln/>
        </p:spPr>
        <p:txBody>
          <a:bodyPr wrap="square" rtlCol="0" anchor="ctr"/>
          <a:lstStyle/>
          <a:p>
            <a:pPr marL="0" indent="0">
              <a:lnSpc>
                <a:spcPct val="130000"/>
              </a:lnSpc>
              <a:buNone/>
            </a:pPr>
            <a:r>
              <a:rPr lang="en-US" sz="1200" dirty="0">
                <a:solidFill>
                  <a:srgbClr val="6B7688"/>
                </a:solidFill>
                <a:latin typeface="Calibri" pitchFamily="34" charset="0"/>
                <a:ea typeface="Calibri" pitchFamily="34" charset="-122"/>
                <a:cs typeface="Calibri" pitchFamily="34" charset="-120"/>
              </a:rPr>
              <a:t>Build bar charts, histograms, and cross-tabulations with Matplotlib and NumPy.</a:t>
            </a:r>
            <a:endParaRPr lang="en-US" sz="1200" dirty="0"/>
          </a:p>
        </p:txBody>
      </p:sp>
      <p:sp>
        <p:nvSpPr>
          <p:cNvPr id="19" name="Shape 17"/>
          <p:cNvSpPr/>
          <p:nvPr/>
        </p:nvSpPr>
        <p:spPr>
          <a:xfrm>
            <a:off x="9134856" y="1600200"/>
            <a:ext cx="2606040" cy="4206240"/>
          </a:xfrm>
          <a:prstGeom prst="roundRect">
            <a:avLst>
              <a:gd name="adj" fmla="val 3509"/>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sp>
        <p:nvSpPr>
          <p:cNvPr id="20" name="Shape 18"/>
          <p:cNvSpPr/>
          <p:nvPr/>
        </p:nvSpPr>
        <p:spPr>
          <a:xfrm>
            <a:off x="9409176" y="1920240"/>
            <a:ext cx="502920" cy="502920"/>
          </a:xfrm>
          <a:prstGeom prst="ellipse">
            <a:avLst/>
          </a:prstGeom>
          <a:solidFill>
            <a:srgbClr val="1C7293"/>
          </a:solidFill>
          <a:ln/>
        </p:spPr>
        <p:txBody>
          <a:bodyPr/>
          <a:lstStyle/>
          <a:p>
            <a:endParaRPr lang="en-US"/>
          </a:p>
        </p:txBody>
      </p:sp>
      <p:sp>
        <p:nvSpPr>
          <p:cNvPr id="21" name="Text 19"/>
          <p:cNvSpPr/>
          <p:nvPr/>
        </p:nvSpPr>
        <p:spPr>
          <a:xfrm>
            <a:off x="9409176" y="19202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363456" y="2651760"/>
            <a:ext cx="2148840" cy="640080"/>
          </a:xfrm>
          <a:prstGeom prst="rect">
            <a:avLst/>
          </a:prstGeom>
          <a:noFill/>
          <a:ln/>
        </p:spPr>
        <p:txBody>
          <a:bodyPr wrap="square" rtlCol="0" anchor="ctr"/>
          <a:lstStyle/>
          <a:p>
            <a:pPr marL="0" indent="0">
              <a:buNone/>
            </a:pPr>
            <a:r>
              <a:rPr lang="en-US" sz="1600" b="1" dirty="0">
                <a:solidFill>
                  <a:srgbClr val="1B2430"/>
                </a:solidFill>
                <a:latin typeface="Cambria" pitchFamily="34" charset="0"/>
                <a:ea typeface="Cambria" pitchFamily="34" charset="-122"/>
                <a:cs typeface="Cambria" pitchFamily="34" charset="-120"/>
              </a:rPr>
              <a:t>Identify Bias</a:t>
            </a:r>
            <a:endParaRPr lang="en-US" sz="1600" dirty="0"/>
          </a:p>
        </p:txBody>
      </p:sp>
      <p:sp>
        <p:nvSpPr>
          <p:cNvPr id="23" name="Text 21"/>
          <p:cNvSpPr/>
          <p:nvPr/>
        </p:nvSpPr>
        <p:spPr>
          <a:xfrm>
            <a:off x="9363456" y="3291840"/>
            <a:ext cx="2148840" cy="2286000"/>
          </a:xfrm>
          <a:prstGeom prst="rect">
            <a:avLst/>
          </a:prstGeom>
          <a:noFill/>
          <a:ln/>
        </p:spPr>
        <p:txBody>
          <a:bodyPr wrap="square" rtlCol="0" anchor="ctr"/>
          <a:lstStyle/>
          <a:p>
            <a:pPr marL="0" indent="0">
              <a:lnSpc>
                <a:spcPct val="130000"/>
              </a:lnSpc>
              <a:buNone/>
            </a:pPr>
            <a:r>
              <a:rPr lang="en-US" sz="1200" dirty="0">
                <a:solidFill>
                  <a:srgbClr val="6B7688"/>
                </a:solidFill>
                <a:latin typeface="Calibri" pitchFamily="34" charset="0"/>
                <a:ea typeface="Calibri" pitchFamily="34" charset="-122"/>
                <a:cs typeface="Calibri" pitchFamily="34" charset="-120"/>
              </a:rPr>
              <a:t>Compare income outcomes across groups to flag representation and outcome gaps.</a:t>
            </a:r>
            <a:endParaRPr lang="en-US" sz="1200" dirty="0"/>
          </a:p>
        </p:txBody>
      </p:sp>
      <p:sp>
        <p:nvSpPr>
          <p:cNvPr id="24" name="Text 22"/>
          <p:cNvSpPr/>
          <p:nvPr/>
        </p:nvSpPr>
        <p:spPr>
          <a:xfrm>
            <a:off x="548640" y="6035040"/>
            <a:ext cx="7315200" cy="365760"/>
          </a:xfrm>
          <a:prstGeom prst="rect">
            <a:avLst/>
          </a:prstGeom>
          <a:noFill/>
          <a:ln/>
        </p:spPr>
        <p:txBody>
          <a:bodyPr wrap="square" rtlCol="0" anchor="ctr"/>
          <a:lstStyle/>
          <a:p>
            <a:pPr marL="0" indent="0">
              <a:buNone/>
            </a:pPr>
            <a:r>
              <a:rPr lang="en-US" sz="1100" i="1" dirty="0">
                <a:solidFill>
                  <a:srgbClr val="6B7688"/>
                </a:solidFill>
                <a:latin typeface="Calibri" pitchFamily="34" charset="0"/>
                <a:ea typeface="Calibri" pitchFamily="34" charset="-122"/>
                <a:cs typeface="Calibri" pitchFamily="34" charset="-120"/>
              </a:rPr>
              <a:t>Tooling: Python  ·  Pandas  ·  NumPy  ·  Matplotlib</a:t>
            </a:r>
            <a:endParaRPr lang="en-US" sz="1100" dirty="0"/>
          </a:p>
        </p:txBody>
      </p:sp>
      <p:sp>
        <p:nvSpPr>
          <p:cNvPr id="25" name="Text 23"/>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26" name="Text 2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Gender Distribution</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371600"/>
            <a:ext cx="512064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5" name="Image 0" descr="assets/fig-002.png"/>
          <p:cNvPicPr>
            <a:picLocks noChangeAspect="1"/>
          </p:cNvPicPr>
          <p:nvPr/>
        </p:nvPicPr>
        <p:blipFill>
          <a:blip r:embed="rId3"/>
          <a:stretch>
            <a:fillRect/>
          </a:stretch>
        </p:blipFill>
        <p:spPr>
          <a:xfrm>
            <a:off x="868680" y="1691640"/>
            <a:ext cx="4480560" cy="3447288"/>
          </a:xfrm>
          <a:prstGeom prst="rect">
            <a:avLst/>
          </a:prstGeom>
        </p:spPr>
      </p:pic>
      <p:sp>
        <p:nvSpPr>
          <p:cNvPr id="6" name="Text 3"/>
          <p:cNvSpPr/>
          <p:nvPr/>
        </p:nvSpPr>
        <p:spPr>
          <a:xfrm>
            <a:off x="548640" y="5212080"/>
            <a:ext cx="512064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3 · Distribution of Gender</a:t>
            </a:r>
            <a:endParaRPr lang="en-US" sz="1100" dirty="0"/>
          </a:p>
        </p:txBody>
      </p:sp>
      <p:sp>
        <p:nvSpPr>
          <p:cNvPr id="7" name="Text 4"/>
          <p:cNvSpPr/>
          <p:nvPr/>
        </p:nvSpPr>
        <p:spPr>
          <a:xfrm>
            <a:off x="6035040" y="1600200"/>
            <a:ext cx="5577840" cy="457200"/>
          </a:xfrm>
          <a:prstGeom prst="rect">
            <a:avLst/>
          </a:prstGeom>
          <a:noFill/>
          <a:ln/>
        </p:spPr>
        <p:txBody>
          <a:bodyPr wrap="square" rtlCol="0" anchor="ctr"/>
          <a:lstStyle/>
          <a:p>
            <a:pPr marL="0" indent="0">
              <a:buNone/>
            </a:pPr>
            <a:r>
              <a:rPr lang="en-US" sz="1900" b="1" dirty="0">
                <a:solidFill>
                  <a:srgbClr val="1B2430"/>
                </a:solidFill>
                <a:latin typeface="Cambria" pitchFamily="34" charset="0"/>
                <a:ea typeface="Cambria" pitchFamily="34" charset="-122"/>
                <a:cs typeface="Cambria" pitchFamily="34" charset="-120"/>
              </a:rPr>
              <a:t>A clear sample imbalance</a:t>
            </a:r>
            <a:endParaRPr lang="en-US" sz="1900" dirty="0"/>
          </a:p>
        </p:txBody>
      </p:sp>
      <p:sp>
        <p:nvSpPr>
          <p:cNvPr id="8" name="Text 5"/>
          <p:cNvSpPr/>
          <p:nvPr/>
        </p:nvSpPr>
        <p:spPr>
          <a:xfrm>
            <a:off x="6035040" y="2103120"/>
            <a:ext cx="5577840" cy="1463040"/>
          </a:xfrm>
          <a:prstGeom prst="rect">
            <a:avLst/>
          </a:prstGeom>
          <a:noFill/>
          <a:ln/>
        </p:spPr>
        <p:txBody>
          <a:bodyPr wrap="square" rtlCol="0" anchor="ctr"/>
          <a:lstStyle/>
          <a:p>
            <a:pPr marL="0" indent="0">
              <a:lnSpc>
                <a:spcPct val="130000"/>
              </a:lnSpc>
              <a:buNone/>
            </a:pPr>
            <a:r>
              <a:rPr lang="en-US" sz="1400" dirty="0">
                <a:solidFill>
                  <a:srgbClr val="1B2430"/>
                </a:solidFill>
                <a:latin typeface="Calibri" pitchFamily="34" charset="0"/>
                <a:ea typeface="Calibri" pitchFamily="34" charset="-122"/>
                <a:cs typeface="Calibri" pitchFamily="34" charset="-120"/>
              </a:rPr>
              <a:t>The dataset contains noticeably more male than female records. Any model trained on this sample inherits that imbalance — with fewer female examples to learn from, predictions for women are more likely to be less reliable.</a:t>
            </a:r>
            <a:endParaRPr lang="en-US" sz="1400" dirty="0"/>
          </a:p>
        </p:txBody>
      </p:sp>
      <p:sp>
        <p:nvSpPr>
          <p:cNvPr id="9" name="Shape 6"/>
          <p:cNvSpPr/>
          <p:nvPr/>
        </p:nvSpPr>
        <p:spPr>
          <a:xfrm>
            <a:off x="6035040" y="3703320"/>
            <a:ext cx="5577840" cy="1828800"/>
          </a:xfrm>
          <a:prstGeom prst="roundRect">
            <a:avLst>
              <a:gd name="adj" fmla="val 5000"/>
            </a:avLst>
          </a:prstGeom>
          <a:solidFill>
            <a:srgbClr val="21295C"/>
          </a:solidFill>
          <a:ln/>
        </p:spPr>
        <p:txBody>
          <a:bodyPr/>
          <a:lstStyle/>
          <a:p>
            <a:endParaRPr lang="en-US"/>
          </a:p>
        </p:txBody>
      </p:sp>
      <p:sp>
        <p:nvSpPr>
          <p:cNvPr id="10" name="Text 7"/>
          <p:cNvSpPr/>
          <p:nvPr/>
        </p:nvSpPr>
        <p:spPr>
          <a:xfrm>
            <a:off x="6309360" y="3886200"/>
            <a:ext cx="5029200" cy="36576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Sample skew observed in</a:t>
            </a:r>
            <a:endParaRPr lang="en-US" sz="1200" dirty="0"/>
          </a:p>
        </p:txBody>
      </p:sp>
      <p:sp>
        <p:nvSpPr>
          <p:cNvPr id="11" name="Text 8"/>
          <p:cNvSpPr/>
          <p:nvPr/>
        </p:nvSpPr>
        <p:spPr>
          <a:xfrm>
            <a:off x="6309360" y="4206240"/>
            <a:ext cx="5029200" cy="6400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Male vs. Female records</a:t>
            </a:r>
            <a:endParaRPr lang="en-US" sz="2400" dirty="0"/>
          </a:p>
        </p:txBody>
      </p:sp>
      <p:sp>
        <p:nvSpPr>
          <p:cNvPr id="12" name="Text 9"/>
          <p:cNvSpPr/>
          <p:nvPr/>
        </p:nvSpPr>
        <p:spPr>
          <a:xfrm>
            <a:off x="6309360" y="4937760"/>
            <a:ext cx="5029200" cy="457200"/>
          </a:xfrm>
          <a:prstGeom prst="rect">
            <a:avLst/>
          </a:prstGeom>
          <a:noFill/>
          <a:ln/>
        </p:spPr>
        <p:txBody>
          <a:bodyPr wrap="square" rtlCol="0" anchor="ctr"/>
          <a:lstStyle/>
          <a:p>
            <a:pPr marL="0" indent="0">
              <a:buNone/>
            </a:pPr>
            <a:r>
              <a:rPr lang="en-US" sz="1150" i="1" dirty="0">
                <a:solidFill>
                  <a:srgbClr val="9FB3D9"/>
                </a:solidFill>
                <a:latin typeface="Calibri" pitchFamily="34" charset="0"/>
                <a:ea typeface="Calibri" pitchFamily="34" charset="-122"/>
                <a:cs typeface="Calibri" pitchFamily="34" charset="-120"/>
              </a:rPr>
              <a:t>Fewer women in the sample means less data richness for that group.</a:t>
            </a:r>
            <a:endParaRPr lang="en-US" sz="1150" dirty="0"/>
          </a:p>
        </p:txBody>
      </p:sp>
      <p:sp>
        <p:nvSpPr>
          <p:cNvPr id="13" name="Text 10"/>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4" name="Text 1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Race Distribution</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6537960" y="1051560"/>
            <a:ext cx="530352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5" name="Image 0" descr="assets/fig-003.png"/>
          <p:cNvPicPr>
            <a:picLocks noChangeAspect="1"/>
          </p:cNvPicPr>
          <p:nvPr/>
        </p:nvPicPr>
        <p:blipFill>
          <a:blip r:embed="rId3"/>
          <a:stretch>
            <a:fillRect/>
          </a:stretch>
        </p:blipFill>
        <p:spPr>
          <a:xfrm>
            <a:off x="6537960" y="1691640"/>
            <a:ext cx="4846320" cy="3794760"/>
          </a:xfrm>
          <a:prstGeom prst="rect">
            <a:avLst/>
          </a:prstGeom>
        </p:spPr>
      </p:pic>
      <p:sp>
        <p:nvSpPr>
          <p:cNvPr id="6" name="Text 3"/>
          <p:cNvSpPr/>
          <p:nvPr/>
        </p:nvSpPr>
        <p:spPr>
          <a:xfrm>
            <a:off x="6309360" y="5577840"/>
            <a:ext cx="530352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4 · Distribution of Races</a:t>
            </a:r>
            <a:endParaRPr lang="en-US" sz="1100" dirty="0"/>
          </a:p>
        </p:txBody>
      </p:sp>
      <p:sp>
        <p:nvSpPr>
          <p:cNvPr id="7" name="Text 4"/>
          <p:cNvSpPr/>
          <p:nvPr/>
        </p:nvSpPr>
        <p:spPr>
          <a:xfrm>
            <a:off x="548640" y="1508760"/>
            <a:ext cx="3291840" cy="457200"/>
          </a:xfrm>
          <a:prstGeom prst="rect">
            <a:avLst/>
          </a:prstGeom>
          <a:noFill/>
          <a:ln/>
        </p:spPr>
        <p:txBody>
          <a:bodyPr wrap="square" rtlCol="0" anchor="ctr"/>
          <a:lstStyle/>
          <a:p>
            <a:pPr marL="0" indent="0">
              <a:buNone/>
            </a:pPr>
            <a:r>
              <a:rPr lang="en-US" sz="1300" dirty="0">
                <a:solidFill>
                  <a:srgbClr val="1B2430"/>
                </a:solidFill>
                <a:latin typeface="Calibri" pitchFamily="34" charset="0"/>
                <a:ea typeface="Calibri" pitchFamily="34" charset="-122"/>
                <a:cs typeface="Calibri" pitchFamily="34" charset="-120"/>
              </a:rPr>
              <a:t>White</a:t>
            </a:r>
            <a:endParaRPr lang="en-US" sz="1300" dirty="0"/>
          </a:p>
        </p:txBody>
      </p:sp>
      <p:sp>
        <p:nvSpPr>
          <p:cNvPr id="8" name="Shape 5"/>
          <p:cNvSpPr/>
          <p:nvPr/>
        </p:nvSpPr>
        <p:spPr>
          <a:xfrm>
            <a:off x="3840480" y="1581912"/>
            <a:ext cx="2011680" cy="256032"/>
          </a:xfrm>
          <a:prstGeom prst="roundRect">
            <a:avLst>
              <a:gd name="adj" fmla="val 17857"/>
            </a:avLst>
          </a:prstGeom>
          <a:solidFill>
            <a:srgbClr val="E3E8EF"/>
          </a:solidFill>
          <a:ln/>
        </p:spPr>
        <p:txBody>
          <a:bodyPr/>
          <a:lstStyle/>
          <a:p>
            <a:endParaRPr lang="en-US"/>
          </a:p>
        </p:txBody>
      </p:sp>
      <p:sp>
        <p:nvSpPr>
          <p:cNvPr id="9" name="Shape 6"/>
          <p:cNvSpPr/>
          <p:nvPr/>
        </p:nvSpPr>
        <p:spPr>
          <a:xfrm>
            <a:off x="3840480" y="1581912"/>
            <a:ext cx="1718578" cy="256032"/>
          </a:xfrm>
          <a:prstGeom prst="roundRect">
            <a:avLst>
              <a:gd name="adj" fmla="val 17857"/>
            </a:avLst>
          </a:prstGeom>
          <a:solidFill>
            <a:srgbClr val="065A82"/>
          </a:solidFill>
          <a:ln/>
        </p:spPr>
        <p:txBody>
          <a:bodyPr/>
          <a:lstStyle/>
          <a:p>
            <a:endParaRPr lang="en-US"/>
          </a:p>
        </p:txBody>
      </p:sp>
      <p:sp>
        <p:nvSpPr>
          <p:cNvPr id="10" name="Text 7"/>
          <p:cNvSpPr/>
          <p:nvPr/>
        </p:nvSpPr>
        <p:spPr>
          <a:xfrm>
            <a:off x="5943600" y="1508760"/>
            <a:ext cx="685800" cy="45720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85.43%</a:t>
            </a:r>
            <a:endParaRPr lang="en-US" sz="1250" dirty="0"/>
          </a:p>
        </p:txBody>
      </p:sp>
      <p:sp>
        <p:nvSpPr>
          <p:cNvPr id="11" name="Text 8"/>
          <p:cNvSpPr/>
          <p:nvPr/>
        </p:nvSpPr>
        <p:spPr>
          <a:xfrm>
            <a:off x="548640" y="2194560"/>
            <a:ext cx="3291840" cy="457200"/>
          </a:xfrm>
          <a:prstGeom prst="rect">
            <a:avLst/>
          </a:prstGeom>
          <a:noFill/>
          <a:ln/>
        </p:spPr>
        <p:txBody>
          <a:bodyPr wrap="square" rtlCol="0" anchor="ctr"/>
          <a:lstStyle/>
          <a:p>
            <a:pPr marL="0" indent="0">
              <a:buNone/>
            </a:pPr>
            <a:r>
              <a:rPr lang="en-US" sz="1300" dirty="0">
                <a:solidFill>
                  <a:srgbClr val="1B2430"/>
                </a:solidFill>
                <a:latin typeface="Calibri" pitchFamily="34" charset="0"/>
                <a:ea typeface="Calibri" pitchFamily="34" charset="-122"/>
                <a:cs typeface="Calibri" pitchFamily="34" charset="-120"/>
              </a:rPr>
              <a:t>Black</a:t>
            </a:r>
            <a:endParaRPr lang="en-US" sz="1300" dirty="0"/>
          </a:p>
        </p:txBody>
      </p:sp>
      <p:sp>
        <p:nvSpPr>
          <p:cNvPr id="12" name="Shape 9"/>
          <p:cNvSpPr/>
          <p:nvPr/>
        </p:nvSpPr>
        <p:spPr>
          <a:xfrm>
            <a:off x="3840480" y="2267712"/>
            <a:ext cx="2011680" cy="256032"/>
          </a:xfrm>
          <a:prstGeom prst="roundRect">
            <a:avLst>
              <a:gd name="adj" fmla="val 17857"/>
            </a:avLst>
          </a:prstGeom>
          <a:solidFill>
            <a:srgbClr val="E3E8EF"/>
          </a:solidFill>
          <a:ln/>
        </p:spPr>
        <p:txBody>
          <a:bodyPr/>
          <a:lstStyle/>
          <a:p>
            <a:endParaRPr lang="en-US"/>
          </a:p>
        </p:txBody>
      </p:sp>
      <p:sp>
        <p:nvSpPr>
          <p:cNvPr id="13" name="Shape 10"/>
          <p:cNvSpPr/>
          <p:nvPr/>
        </p:nvSpPr>
        <p:spPr>
          <a:xfrm>
            <a:off x="3840480" y="2267712"/>
            <a:ext cx="192920" cy="256032"/>
          </a:xfrm>
          <a:prstGeom prst="roundRect">
            <a:avLst>
              <a:gd name="adj" fmla="val 23699"/>
            </a:avLst>
          </a:prstGeom>
          <a:solidFill>
            <a:srgbClr val="F2A65A"/>
          </a:solidFill>
          <a:ln/>
        </p:spPr>
        <p:txBody>
          <a:bodyPr/>
          <a:lstStyle/>
          <a:p>
            <a:endParaRPr lang="en-US"/>
          </a:p>
        </p:txBody>
      </p:sp>
      <p:sp>
        <p:nvSpPr>
          <p:cNvPr id="14" name="Text 11"/>
          <p:cNvSpPr/>
          <p:nvPr/>
        </p:nvSpPr>
        <p:spPr>
          <a:xfrm>
            <a:off x="5943600" y="2194560"/>
            <a:ext cx="685800" cy="45720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9.59%</a:t>
            </a:r>
            <a:endParaRPr lang="en-US" sz="1250" dirty="0"/>
          </a:p>
        </p:txBody>
      </p:sp>
      <p:sp>
        <p:nvSpPr>
          <p:cNvPr id="15" name="Text 12"/>
          <p:cNvSpPr/>
          <p:nvPr/>
        </p:nvSpPr>
        <p:spPr>
          <a:xfrm>
            <a:off x="548640" y="2880360"/>
            <a:ext cx="3291840" cy="457200"/>
          </a:xfrm>
          <a:prstGeom prst="rect">
            <a:avLst/>
          </a:prstGeom>
          <a:noFill/>
          <a:ln/>
        </p:spPr>
        <p:txBody>
          <a:bodyPr wrap="square" rtlCol="0" anchor="ctr"/>
          <a:lstStyle/>
          <a:p>
            <a:pPr marL="0" indent="0">
              <a:buNone/>
            </a:pPr>
            <a:r>
              <a:rPr lang="en-US" sz="1300" dirty="0">
                <a:solidFill>
                  <a:srgbClr val="1B2430"/>
                </a:solidFill>
                <a:latin typeface="Calibri" pitchFamily="34" charset="0"/>
                <a:ea typeface="Calibri" pitchFamily="34" charset="-122"/>
                <a:cs typeface="Calibri" pitchFamily="34" charset="-120"/>
              </a:rPr>
              <a:t>Asian-Pacific Islander</a:t>
            </a:r>
            <a:endParaRPr lang="en-US" sz="1300" dirty="0"/>
          </a:p>
        </p:txBody>
      </p:sp>
      <p:sp>
        <p:nvSpPr>
          <p:cNvPr id="16" name="Shape 13"/>
          <p:cNvSpPr/>
          <p:nvPr/>
        </p:nvSpPr>
        <p:spPr>
          <a:xfrm>
            <a:off x="3840480" y="2953512"/>
            <a:ext cx="2011680" cy="256032"/>
          </a:xfrm>
          <a:prstGeom prst="roundRect">
            <a:avLst>
              <a:gd name="adj" fmla="val 17857"/>
            </a:avLst>
          </a:prstGeom>
          <a:solidFill>
            <a:srgbClr val="E3E8EF"/>
          </a:solidFill>
          <a:ln/>
        </p:spPr>
        <p:txBody>
          <a:bodyPr/>
          <a:lstStyle/>
          <a:p>
            <a:endParaRPr lang="en-US"/>
          </a:p>
        </p:txBody>
      </p:sp>
      <p:sp>
        <p:nvSpPr>
          <p:cNvPr id="17" name="Shape 14"/>
          <p:cNvSpPr/>
          <p:nvPr/>
        </p:nvSpPr>
        <p:spPr>
          <a:xfrm>
            <a:off x="3840480" y="2953512"/>
            <a:ext cx="109728" cy="256032"/>
          </a:xfrm>
          <a:prstGeom prst="roundRect">
            <a:avLst>
              <a:gd name="adj" fmla="val 41667"/>
            </a:avLst>
          </a:prstGeom>
          <a:solidFill>
            <a:srgbClr val="F2A65A"/>
          </a:solidFill>
          <a:ln/>
        </p:spPr>
        <p:txBody>
          <a:bodyPr/>
          <a:lstStyle/>
          <a:p>
            <a:endParaRPr lang="en-US"/>
          </a:p>
        </p:txBody>
      </p:sp>
      <p:sp>
        <p:nvSpPr>
          <p:cNvPr id="18" name="Text 15"/>
          <p:cNvSpPr/>
          <p:nvPr/>
        </p:nvSpPr>
        <p:spPr>
          <a:xfrm>
            <a:off x="5943600" y="2880360"/>
            <a:ext cx="685800" cy="45720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3.19%</a:t>
            </a:r>
            <a:endParaRPr lang="en-US" sz="1250" dirty="0"/>
          </a:p>
        </p:txBody>
      </p:sp>
      <p:sp>
        <p:nvSpPr>
          <p:cNvPr id="19" name="Text 16"/>
          <p:cNvSpPr/>
          <p:nvPr/>
        </p:nvSpPr>
        <p:spPr>
          <a:xfrm>
            <a:off x="548640" y="3566160"/>
            <a:ext cx="3291840" cy="457200"/>
          </a:xfrm>
          <a:prstGeom prst="rect">
            <a:avLst/>
          </a:prstGeom>
          <a:noFill/>
          <a:ln/>
        </p:spPr>
        <p:txBody>
          <a:bodyPr wrap="square" rtlCol="0" anchor="ctr"/>
          <a:lstStyle/>
          <a:p>
            <a:pPr marL="0" indent="0">
              <a:buNone/>
            </a:pPr>
            <a:r>
              <a:rPr lang="en-US" sz="1300" dirty="0">
                <a:solidFill>
                  <a:srgbClr val="1B2430"/>
                </a:solidFill>
                <a:latin typeface="Calibri" pitchFamily="34" charset="0"/>
                <a:ea typeface="Calibri" pitchFamily="34" charset="-122"/>
                <a:cs typeface="Calibri" pitchFamily="34" charset="-120"/>
              </a:rPr>
              <a:t>Amer-Indian-Eskimo</a:t>
            </a:r>
            <a:endParaRPr lang="en-US" sz="1300" dirty="0"/>
          </a:p>
        </p:txBody>
      </p:sp>
      <p:sp>
        <p:nvSpPr>
          <p:cNvPr id="20" name="Shape 17"/>
          <p:cNvSpPr/>
          <p:nvPr/>
        </p:nvSpPr>
        <p:spPr>
          <a:xfrm>
            <a:off x="3840480" y="3639312"/>
            <a:ext cx="2011680" cy="256032"/>
          </a:xfrm>
          <a:prstGeom prst="roundRect">
            <a:avLst>
              <a:gd name="adj" fmla="val 17857"/>
            </a:avLst>
          </a:prstGeom>
          <a:solidFill>
            <a:srgbClr val="E3E8EF"/>
          </a:solidFill>
          <a:ln/>
        </p:spPr>
        <p:txBody>
          <a:bodyPr/>
          <a:lstStyle/>
          <a:p>
            <a:endParaRPr lang="en-US"/>
          </a:p>
        </p:txBody>
      </p:sp>
      <p:sp>
        <p:nvSpPr>
          <p:cNvPr id="21" name="Shape 18"/>
          <p:cNvSpPr/>
          <p:nvPr/>
        </p:nvSpPr>
        <p:spPr>
          <a:xfrm>
            <a:off x="3840480" y="3639312"/>
            <a:ext cx="109728" cy="256032"/>
          </a:xfrm>
          <a:prstGeom prst="roundRect">
            <a:avLst>
              <a:gd name="adj" fmla="val 41667"/>
            </a:avLst>
          </a:prstGeom>
          <a:solidFill>
            <a:srgbClr val="F2A65A"/>
          </a:solidFill>
          <a:ln/>
        </p:spPr>
        <p:txBody>
          <a:bodyPr/>
          <a:lstStyle/>
          <a:p>
            <a:endParaRPr lang="en-US"/>
          </a:p>
        </p:txBody>
      </p:sp>
      <p:sp>
        <p:nvSpPr>
          <p:cNvPr id="22" name="Text 19"/>
          <p:cNvSpPr/>
          <p:nvPr/>
        </p:nvSpPr>
        <p:spPr>
          <a:xfrm>
            <a:off x="5943600" y="3566160"/>
            <a:ext cx="685800" cy="45720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0.96%</a:t>
            </a:r>
            <a:endParaRPr lang="en-US" sz="1250" dirty="0"/>
          </a:p>
        </p:txBody>
      </p:sp>
      <p:sp>
        <p:nvSpPr>
          <p:cNvPr id="23" name="Text 20"/>
          <p:cNvSpPr/>
          <p:nvPr/>
        </p:nvSpPr>
        <p:spPr>
          <a:xfrm>
            <a:off x="548640" y="4251960"/>
            <a:ext cx="3291840" cy="457200"/>
          </a:xfrm>
          <a:prstGeom prst="rect">
            <a:avLst/>
          </a:prstGeom>
          <a:noFill/>
          <a:ln/>
        </p:spPr>
        <p:txBody>
          <a:bodyPr wrap="square" rtlCol="0" anchor="ctr"/>
          <a:lstStyle/>
          <a:p>
            <a:pPr marL="0" indent="0">
              <a:buNone/>
            </a:pPr>
            <a:r>
              <a:rPr lang="en-US" sz="1300" dirty="0">
                <a:solidFill>
                  <a:srgbClr val="1B2430"/>
                </a:solidFill>
                <a:latin typeface="Calibri" pitchFamily="34" charset="0"/>
                <a:ea typeface="Calibri" pitchFamily="34" charset="-122"/>
                <a:cs typeface="Calibri" pitchFamily="34" charset="-120"/>
              </a:rPr>
              <a:t>Other</a:t>
            </a:r>
            <a:endParaRPr lang="en-US" sz="1300" dirty="0"/>
          </a:p>
        </p:txBody>
      </p:sp>
      <p:sp>
        <p:nvSpPr>
          <p:cNvPr id="24" name="Shape 21"/>
          <p:cNvSpPr/>
          <p:nvPr/>
        </p:nvSpPr>
        <p:spPr>
          <a:xfrm>
            <a:off x="3840480" y="4325112"/>
            <a:ext cx="2011680" cy="256032"/>
          </a:xfrm>
          <a:prstGeom prst="roundRect">
            <a:avLst>
              <a:gd name="adj" fmla="val 17857"/>
            </a:avLst>
          </a:prstGeom>
          <a:solidFill>
            <a:srgbClr val="E3E8EF"/>
          </a:solidFill>
          <a:ln/>
        </p:spPr>
        <p:txBody>
          <a:bodyPr/>
          <a:lstStyle/>
          <a:p>
            <a:endParaRPr lang="en-US"/>
          </a:p>
        </p:txBody>
      </p:sp>
      <p:sp>
        <p:nvSpPr>
          <p:cNvPr id="25" name="Shape 22"/>
          <p:cNvSpPr/>
          <p:nvPr/>
        </p:nvSpPr>
        <p:spPr>
          <a:xfrm>
            <a:off x="3840480" y="4325112"/>
            <a:ext cx="109728" cy="256032"/>
          </a:xfrm>
          <a:prstGeom prst="roundRect">
            <a:avLst>
              <a:gd name="adj" fmla="val 41667"/>
            </a:avLst>
          </a:prstGeom>
          <a:solidFill>
            <a:srgbClr val="F2A65A"/>
          </a:solidFill>
          <a:ln/>
        </p:spPr>
        <p:txBody>
          <a:bodyPr/>
          <a:lstStyle/>
          <a:p>
            <a:endParaRPr lang="en-US"/>
          </a:p>
        </p:txBody>
      </p:sp>
      <p:sp>
        <p:nvSpPr>
          <p:cNvPr id="26" name="Text 23"/>
          <p:cNvSpPr/>
          <p:nvPr/>
        </p:nvSpPr>
        <p:spPr>
          <a:xfrm>
            <a:off x="5943600" y="4251960"/>
            <a:ext cx="685800" cy="457200"/>
          </a:xfrm>
          <a:prstGeom prst="rect">
            <a:avLst/>
          </a:prstGeom>
          <a:noFill/>
          <a:ln/>
        </p:spPr>
        <p:txBody>
          <a:bodyPr wrap="square" rtlCol="0" anchor="ctr"/>
          <a:lstStyle/>
          <a:p>
            <a:pPr marL="0" indent="0">
              <a:buNone/>
            </a:pPr>
            <a:r>
              <a:rPr lang="en-US" sz="1250" b="1" dirty="0">
                <a:solidFill>
                  <a:srgbClr val="1B2430"/>
                </a:solidFill>
                <a:latin typeface="Calibri" pitchFamily="34" charset="0"/>
                <a:ea typeface="Calibri" pitchFamily="34" charset="-122"/>
                <a:cs typeface="Calibri" pitchFamily="34" charset="-120"/>
              </a:rPr>
              <a:t>0.83%</a:t>
            </a:r>
            <a:endParaRPr lang="en-US" sz="1250" dirty="0"/>
          </a:p>
        </p:txBody>
      </p:sp>
      <p:sp>
        <p:nvSpPr>
          <p:cNvPr id="27" name="Text 24"/>
          <p:cNvSpPr/>
          <p:nvPr/>
        </p:nvSpPr>
        <p:spPr>
          <a:xfrm>
            <a:off x="548640" y="5394960"/>
            <a:ext cx="5486400" cy="914400"/>
          </a:xfrm>
          <a:prstGeom prst="rect">
            <a:avLst/>
          </a:prstGeom>
          <a:noFill/>
          <a:ln/>
        </p:spPr>
        <p:txBody>
          <a:bodyPr wrap="square" rtlCol="0" anchor="ctr"/>
          <a:lstStyle/>
          <a:p>
            <a:pPr marL="0" indent="0">
              <a:lnSpc>
                <a:spcPct val="130000"/>
              </a:lnSpc>
              <a:buNone/>
            </a:pPr>
            <a:r>
              <a:rPr lang="en-US" sz="1250" i="1" dirty="0">
                <a:solidFill>
                  <a:srgbClr val="6B7688"/>
                </a:solidFill>
                <a:latin typeface="Calibri" pitchFamily="34" charset="0"/>
                <a:ea typeface="Calibri" pitchFamily="34" charset="-122"/>
                <a:cs typeface="Calibri" pitchFamily="34" charset="-120"/>
              </a:rPr>
              <a:t>White individuals dominate the sample, while Black, Asian-Pacific Islander, Amer-Indian-Eskimo, and Other groups together make up less than 15%.</a:t>
            </a:r>
            <a:endParaRPr lang="en-US" sz="1250" dirty="0"/>
          </a:p>
        </p:txBody>
      </p:sp>
      <p:sp>
        <p:nvSpPr>
          <p:cNvPr id="28" name="Text 25"/>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29" name="Text 2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Age &amp; Education Distribution</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371600"/>
            <a:ext cx="548640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5" name="Image 0" descr="assets/fig-005.png"/>
          <p:cNvPicPr>
            <a:picLocks noChangeAspect="1"/>
          </p:cNvPicPr>
          <p:nvPr/>
        </p:nvPicPr>
        <p:blipFill>
          <a:blip r:embed="rId3"/>
          <a:stretch>
            <a:fillRect/>
          </a:stretch>
        </p:blipFill>
        <p:spPr>
          <a:xfrm>
            <a:off x="777240" y="1691640"/>
            <a:ext cx="5029200" cy="2752344"/>
          </a:xfrm>
          <a:prstGeom prst="rect">
            <a:avLst/>
          </a:prstGeom>
        </p:spPr>
      </p:pic>
      <p:sp>
        <p:nvSpPr>
          <p:cNvPr id="6" name="Text 3"/>
          <p:cNvSpPr/>
          <p:nvPr/>
        </p:nvSpPr>
        <p:spPr>
          <a:xfrm>
            <a:off x="548640" y="4572000"/>
            <a:ext cx="548640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5 · Distribution of Ages</a:t>
            </a:r>
            <a:endParaRPr lang="en-US" sz="1100" dirty="0"/>
          </a:p>
        </p:txBody>
      </p:sp>
      <p:sp>
        <p:nvSpPr>
          <p:cNvPr id="7" name="Text 4"/>
          <p:cNvSpPr/>
          <p:nvPr/>
        </p:nvSpPr>
        <p:spPr>
          <a:xfrm>
            <a:off x="777240" y="4937760"/>
            <a:ext cx="5029200" cy="1188720"/>
          </a:xfrm>
          <a:prstGeom prst="rect">
            <a:avLst/>
          </a:prstGeom>
          <a:noFill/>
          <a:ln/>
        </p:spPr>
        <p:txBody>
          <a:bodyPr wrap="square" rtlCol="0" anchor="ctr"/>
          <a:lstStyle/>
          <a:p>
            <a:pPr marL="0" indent="0">
              <a:lnSpc>
                <a:spcPct val="130000"/>
              </a:lnSpc>
              <a:buNone/>
            </a:pPr>
            <a:r>
              <a:rPr lang="en-US" sz="1200" i="1" dirty="0">
                <a:solidFill>
                  <a:srgbClr val="6B7688"/>
                </a:solidFill>
                <a:latin typeface="Calibri" pitchFamily="34" charset="0"/>
                <a:ea typeface="Calibri" pitchFamily="34" charset="-122"/>
                <a:cs typeface="Calibri" pitchFamily="34" charset="-120"/>
              </a:rPr>
              <a:t>Most individuals fall between ages 28 and 48, tapering off sharply after 60.</a:t>
            </a:r>
            <a:endParaRPr lang="en-US" sz="1200" dirty="0"/>
          </a:p>
        </p:txBody>
      </p:sp>
      <p:sp>
        <p:nvSpPr>
          <p:cNvPr id="8" name="Shape 5"/>
          <p:cNvSpPr/>
          <p:nvPr/>
        </p:nvSpPr>
        <p:spPr>
          <a:xfrm>
            <a:off x="6263640" y="1371600"/>
            <a:ext cx="534924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9" name="Image 1" descr="assets/fig-004.png"/>
          <p:cNvPicPr>
            <a:picLocks noChangeAspect="1"/>
          </p:cNvPicPr>
          <p:nvPr/>
        </p:nvPicPr>
        <p:blipFill>
          <a:blip r:embed="rId4"/>
          <a:stretch>
            <a:fillRect/>
          </a:stretch>
        </p:blipFill>
        <p:spPr>
          <a:xfrm>
            <a:off x="6492240" y="1691640"/>
            <a:ext cx="4892040" cy="3218688"/>
          </a:xfrm>
          <a:prstGeom prst="rect">
            <a:avLst/>
          </a:prstGeom>
        </p:spPr>
      </p:pic>
      <p:sp>
        <p:nvSpPr>
          <p:cNvPr id="10" name="Text 6"/>
          <p:cNvSpPr/>
          <p:nvPr/>
        </p:nvSpPr>
        <p:spPr>
          <a:xfrm>
            <a:off x="6263640" y="5029200"/>
            <a:ext cx="534924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6 · Distribution of Education</a:t>
            </a:r>
            <a:endParaRPr lang="en-US" sz="1100" dirty="0"/>
          </a:p>
        </p:txBody>
      </p:sp>
      <p:sp>
        <p:nvSpPr>
          <p:cNvPr id="11" name="Text 7"/>
          <p:cNvSpPr/>
          <p:nvPr/>
        </p:nvSpPr>
        <p:spPr>
          <a:xfrm>
            <a:off x="6492240" y="5394960"/>
            <a:ext cx="4892040" cy="822960"/>
          </a:xfrm>
          <a:prstGeom prst="rect">
            <a:avLst/>
          </a:prstGeom>
          <a:noFill/>
          <a:ln/>
        </p:spPr>
        <p:txBody>
          <a:bodyPr wrap="square" rtlCol="0" anchor="ctr"/>
          <a:lstStyle/>
          <a:p>
            <a:pPr marL="0" indent="0">
              <a:lnSpc>
                <a:spcPct val="130000"/>
              </a:lnSpc>
              <a:buNone/>
            </a:pPr>
            <a:r>
              <a:rPr lang="en-US" sz="1200" i="1" dirty="0">
                <a:solidFill>
                  <a:srgbClr val="6B7688"/>
                </a:solidFill>
                <a:latin typeface="Calibri" pitchFamily="34" charset="0"/>
                <a:ea typeface="Calibri" pitchFamily="34" charset="-122"/>
                <a:cs typeface="Calibri" pitchFamily="34" charset="-120"/>
              </a:rPr>
              <a:t>Some-college and high-school completion dominate; advanced degrees are rare.</a:t>
            </a:r>
            <a:endParaRPr lang="en-US" sz="1200" dirty="0"/>
          </a:p>
        </p:txBody>
      </p:sp>
      <p:sp>
        <p:nvSpPr>
          <p:cNvPr id="12" name="Text 8"/>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3"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Income by Gender</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371600"/>
            <a:ext cx="5943600" cy="4937760"/>
          </a:xfrm>
          <a:prstGeom prst="roundRect">
            <a:avLst>
              <a:gd name="adj" fmla="val 2222"/>
            </a:avLst>
          </a:prstGeom>
          <a:solidFill>
            <a:srgbClr val="FFFFFF"/>
          </a:solidFill>
          <a:ln/>
          <a:effectLst>
            <a:outerShdw blurRad="101600" dist="38100" dir="5400000" algn="bl" rotWithShape="0">
              <a:srgbClr val="1B2430">
                <a:alpha val="25000"/>
              </a:srgbClr>
            </a:outerShdw>
          </a:effectLst>
        </p:spPr>
        <p:txBody>
          <a:bodyPr/>
          <a:lstStyle/>
          <a:p>
            <a:endParaRPr lang="en-US"/>
          </a:p>
        </p:txBody>
      </p:sp>
      <p:pic>
        <p:nvPicPr>
          <p:cNvPr id="5" name="Image 0" descr="assets/fig-006.png"/>
          <p:cNvPicPr>
            <a:picLocks noChangeAspect="1"/>
          </p:cNvPicPr>
          <p:nvPr/>
        </p:nvPicPr>
        <p:blipFill>
          <a:blip r:embed="rId3"/>
          <a:stretch>
            <a:fillRect/>
          </a:stretch>
        </p:blipFill>
        <p:spPr>
          <a:xfrm>
            <a:off x="868680" y="1691640"/>
            <a:ext cx="5303520" cy="4361688"/>
          </a:xfrm>
          <a:prstGeom prst="rect">
            <a:avLst/>
          </a:prstGeom>
        </p:spPr>
      </p:pic>
      <p:sp>
        <p:nvSpPr>
          <p:cNvPr id="6" name="Text 3"/>
          <p:cNvSpPr/>
          <p:nvPr/>
        </p:nvSpPr>
        <p:spPr>
          <a:xfrm>
            <a:off x="548640" y="6080760"/>
            <a:ext cx="5943600" cy="27432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Figure 7 · Gender-specific Income</a:t>
            </a:r>
            <a:endParaRPr lang="en-US" sz="1100" dirty="0"/>
          </a:p>
        </p:txBody>
      </p:sp>
      <p:sp>
        <p:nvSpPr>
          <p:cNvPr id="7" name="Shape 4"/>
          <p:cNvSpPr/>
          <p:nvPr/>
        </p:nvSpPr>
        <p:spPr>
          <a:xfrm>
            <a:off x="6858000" y="1691640"/>
            <a:ext cx="4754880" cy="1783080"/>
          </a:xfrm>
          <a:prstGeom prst="roundRect">
            <a:avLst>
              <a:gd name="adj" fmla="val 5128"/>
            </a:avLst>
          </a:prstGeom>
          <a:solidFill>
            <a:srgbClr val="1C7293"/>
          </a:solidFill>
          <a:ln/>
        </p:spPr>
        <p:txBody>
          <a:bodyPr/>
          <a:lstStyle/>
          <a:p>
            <a:endParaRPr lang="en-US"/>
          </a:p>
        </p:txBody>
      </p:sp>
      <p:sp>
        <p:nvSpPr>
          <p:cNvPr id="8" name="Text 5"/>
          <p:cNvSpPr/>
          <p:nvPr/>
        </p:nvSpPr>
        <p:spPr>
          <a:xfrm>
            <a:off x="7086600" y="1856232"/>
            <a:ext cx="3200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10.95%</a:t>
            </a:r>
            <a:endParaRPr lang="en-US" sz="3400" dirty="0"/>
          </a:p>
        </p:txBody>
      </p:sp>
      <p:sp>
        <p:nvSpPr>
          <p:cNvPr id="9" name="Text 6"/>
          <p:cNvSpPr/>
          <p:nvPr/>
        </p:nvSpPr>
        <p:spPr>
          <a:xfrm>
            <a:off x="7086600" y="2606040"/>
            <a:ext cx="4297680" cy="365760"/>
          </a:xfrm>
          <a:prstGeom prst="rect">
            <a:avLst/>
          </a:prstGeom>
          <a:noFill/>
          <a:ln/>
        </p:spPr>
        <p:txBody>
          <a:bodyPr wrap="square" rtlCol="0" anchor="ctr"/>
          <a:lstStyle/>
          <a:p>
            <a:pPr marL="0" indent="0">
              <a:buNone/>
            </a:pPr>
            <a:r>
              <a:rPr lang="en-US" sz="1300" dirty="0">
                <a:solidFill>
                  <a:srgbClr val="E8F0FA"/>
                </a:solidFill>
                <a:latin typeface="Calibri" pitchFamily="34" charset="0"/>
                <a:ea typeface="Calibri" pitchFamily="34" charset="-122"/>
                <a:cs typeface="Calibri" pitchFamily="34" charset="-120"/>
              </a:rPr>
              <a:t>of women earn &gt; $50K</a:t>
            </a:r>
            <a:endParaRPr lang="en-US" sz="1300" dirty="0"/>
          </a:p>
        </p:txBody>
      </p:sp>
      <p:sp>
        <p:nvSpPr>
          <p:cNvPr id="10" name="Text 7"/>
          <p:cNvSpPr/>
          <p:nvPr/>
        </p:nvSpPr>
        <p:spPr>
          <a:xfrm>
            <a:off x="7086600" y="2971800"/>
            <a:ext cx="4297680" cy="365760"/>
          </a:xfrm>
          <a:prstGeom prst="rect">
            <a:avLst/>
          </a:prstGeom>
          <a:noFill/>
          <a:ln/>
        </p:spPr>
        <p:txBody>
          <a:bodyPr wrap="square" rtlCol="0" anchor="ctr"/>
          <a:lstStyle/>
          <a:p>
            <a:pPr marL="0" indent="0">
              <a:buNone/>
            </a:pPr>
            <a:r>
              <a:rPr lang="en-US" sz="1100" i="1" dirty="0">
                <a:solidFill>
                  <a:srgbClr val="B7C9E3"/>
                </a:solidFill>
                <a:latin typeface="Calibri" pitchFamily="34" charset="0"/>
                <a:ea typeface="Calibri" pitchFamily="34" charset="-122"/>
                <a:cs typeface="Calibri" pitchFamily="34" charset="-120"/>
              </a:rPr>
              <a:t>89.05% earn ≤ $50K</a:t>
            </a:r>
            <a:endParaRPr lang="en-US" sz="1100" dirty="0"/>
          </a:p>
        </p:txBody>
      </p:sp>
      <p:sp>
        <p:nvSpPr>
          <p:cNvPr id="11" name="Shape 8"/>
          <p:cNvSpPr/>
          <p:nvPr/>
        </p:nvSpPr>
        <p:spPr>
          <a:xfrm>
            <a:off x="6858000" y="3840480"/>
            <a:ext cx="4754880" cy="1783080"/>
          </a:xfrm>
          <a:prstGeom prst="roundRect">
            <a:avLst>
              <a:gd name="adj" fmla="val 5128"/>
            </a:avLst>
          </a:prstGeom>
          <a:solidFill>
            <a:srgbClr val="065A82"/>
          </a:solidFill>
          <a:ln/>
        </p:spPr>
        <p:txBody>
          <a:bodyPr/>
          <a:lstStyle/>
          <a:p>
            <a:endParaRPr lang="en-US"/>
          </a:p>
        </p:txBody>
      </p:sp>
      <p:sp>
        <p:nvSpPr>
          <p:cNvPr id="12" name="Text 9"/>
          <p:cNvSpPr/>
          <p:nvPr/>
        </p:nvSpPr>
        <p:spPr>
          <a:xfrm>
            <a:off x="7086600" y="4005072"/>
            <a:ext cx="3200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30.57%</a:t>
            </a:r>
            <a:endParaRPr lang="en-US" sz="3400" dirty="0"/>
          </a:p>
        </p:txBody>
      </p:sp>
      <p:sp>
        <p:nvSpPr>
          <p:cNvPr id="13" name="Text 10"/>
          <p:cNvSpPr/>
          <p:nvPr/>
        </p:nvSpPr>
        <p:spPr>
          <a:xfrm>
            <a:off x="7086600" y="4754880"/>
            <a:ext cx="4297680" cy="365760"/>
          </a:xfrm>
          <a:prstGeom prst="rect">
            <a:avLst/>
          </a:prstGeom>
          <a:noFill/>
          <a:ln/>
        </p:spPr>
        <p:txBody>
          <a:bodyPr wrap="square" rtlCol="0" anchor="ctr"/>
          <a:lstStyle/>
          <a:p>
            <a:pPr marL="0" indent="0">
              <a:buNone/>
            </a:pPr>
            <a:r>
              <a:rPr lang="en-US" sz="1300" dirty="0">
                <a:solidFill>
                  <a:srgbClr val="E8F0FA"/>
                </a:solidFill>
                <a:latin typeface="Calibri" pitchFamily="34" charset="0"/>
                <a:ea typeface="Calibri" pitchFamily="34" charset="-122"/>
                <a:cs typeface="Calibri" pitchFamily="34" charset="-120"/>
              </a:rPr>
              <a:t>of men earn &gt; $50K</a:t>
            </a:r>
            <a:endParaRPr lang="en-US" sz="1300" dirty="0"/>
          </a:p>
        </p:txBody>
      </p:sp>
      <p:sp>
        <p:nvSpPr>
          <p:cNvPr id="14" name="Text 11"/>
          <p:cNvSpPr/>
          <p:nvPr/>
        </p:nvSpPr>
        <p:spPr>
          <a:xfrm>
            <a:off x="7086600" y="5120640"/>
            <a:ext cx="4297680" cy="365760"/>
          </a:xfrm>
          <a:prstGeom prst="rect">
            <a:avLst/>
          </a:prstGeom>
          <a:noFill/>
          <a:ln/>
        </p:spPr>
        <p:txBody>
          <a:bodyPr wrap="square" rtlCol="0" anchor="ctr"/>
          <a:lstStyle/>
          <a:p>
            <a:pPr marL="0" indent="0">
              <a:buNone/>
            </a:pPr>
            <a:r>
              <a:rPr lang="en-US" sz="1100" i="1" dirty="0">
                <a:solidFill>
                  <a:srgbClr val="B7C9E3"/>
                </a:solidFill>
                <a:latin typeface="Calibri" pitchFamily="34" charset="0"/>
                <a:ea typeface="Calibri" pitchFamily="34" charset="-122"/>
                <a:cs typeface="Calibri" pitchFamily="34" charset="-120"/>
              </a:rPr>
              <a:t>69.43% earn ≤ $50K</a:t>
            </a:r>
            <a:endParaRPr lang="en-US" sz="1100" dirty="0"/>
          </a:p>
        </p:txBody>
      </p:sp>
      <p:sp>
        <p:nvSpPr>
          <p:cNvPr id="15" name="Text 12"/>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6" name="Text 1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9FB3D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Income by Race</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4754880" y="1371600"/>
            <a:ext cx="685800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5" name="Image 0" descr="assets/fig-007.png"/>
          <p:cNvPicPr>
            <a:picLocks noChangeAspect="1"/>
          </p:cNvPicPr>
          <p:nvPr/>
        </p:nvPicPr>
        <p:blipFill>
          <a:blip r:embed="rId3"/>
          <a:stretch>
            <a:fillRect/>
          </a:stretch>
        </p:blipFill>
        <p:spPr>
          <a:xfrm>
            <a:off x="5029200" y="1645920"/>
            <a:ext cx="6309360" cy="4901184"/>
          </a:xfrm>
          <a:prstGeom prst="rect">
            <a:avLst/>
          </a:prstGeom>
        </p:spPr>
      </p:pic>
      <p:sp>
        <p:nvSpPr>
          <p:cNvPr id="6" name="Text 3"/>
          <p:cNvSpPr/>
          <p:nvPr/>
        </p:nvSpPr>
        <p:spPr>
          <a:xfrm>
            <a:off x="548640" y="1600200"/>
            <a:ext cx="3931920" cy="1005840"/>
          </a:xfrm>
          <a:prstGeom prst="rect">
            <a:avLst/>
          </a:prstGeom>
          <a:noFill/>
          <a:ln/>
        </p:spPr>
        <p:txBody>
          <a:bodyPr wrap="square" rtlCol="0" anchor="ctr"/>
          <a:lstStyle/>
          <a:p>
            <a:pPr marL="0" indent="0">
              <a:lnSpc>
                <a:spcPct val="115000"/>
              </a:lnSpc>
              <a:buNone/>
            </a:pPr>
            <a:r>
              <a:rPr lang="en-US" sz="1800" b="1" dirty="0">
                <a:solidFill>
                  <a:srgbClr val="1B2430"/>
                </a:solidFill>
                <a:latin typeface="Cambria" pitchFamily="34" charset="0"/>
                <a:ea typeface="Cambria" pitchFamily="34" charset="-122"/>
                <a:cs typeface="Cambria" pitchFamily="34" charset="-120"/>
              </a:rPr>
              <a:t>Minority groups see far fewer high-income outcomes</a:t>
            </a:r>
            <a:endParaRPr lang="en-US" sz="1800" dirty="0"/>
          </a:p>
        </p:txBody>
      </p:sp>
      <p:sp>
        <p:nvSpPr>
          <p:cNvPr id="7" name="Text 4"/>
          <p:cNvSpPr/>
          <p:nvPr/>
        </p:nvSpPr>
        <p:spPr>
          <a:xfrm>
            <a:off x="548640" y="2697480"/>
            <a:ext cx="3931920" cy="2103120"/>
          </a:xfrm>
          <a:prstGeom prst="rect">
            <a:avLst/>
          </a:prstGeom>
          <a:noFill/>
          <a:ln/>
        </p:spPr>
        <p:txBody>
          <a:bodyPr wrap="square" rtlCol="0" anchor="ctr"/>
          <a:lstStyle/>
          <a:p>
            <a:pPr marL="0" indent="0">
              <a:lnSpc>
                <a:spcPct val="130000"/>
              </a:lnSpc>
              <a:buNone/>
            </a:pPr>
            <a:r>
              <a:rPr lang="en-US" sz="1300" dirty="0">
                <a:solidFill>
                  <a:srgbClr val="6B7688"/>
                </a:solidFill>
                <a:latin typeface="Calibri" pitchFamily="34" charset="0"/>
                <a:ea typeface="Calibri" pitchFamily="34" charset="-122"/>
                <a:cs typeface="Calibri" pitchFamily="34" charset="-120"/>
              </a:rPr>
              <a:t>The White group dominates both income bands simply because it dominates the sample. But even accounting for scale, high-income outcomes (&gt; $50K) are disproportionately lower for minority populations.</a:t>
            </a:r>
            <a:endParaRPr lang="en-US" sz="1300" dirty="0"/>
          </a:p>
        </p:txBody>
      </p:sp>
      <p:sp>
        <p:nvSpPr>
          <p:cNvPr id="8" name="Text 5"/>
          <p:cNvSpPr/>
          <p:nvPr/>
        </p:nvSpPr>
        <p:spPr>
          <a:xfrm>
            <a:off x="548640" y="6035040"/>
            <a:ext cx="3931920" cy="274320"/>
          </a:xfrm>
          <a:prstGeom prst="rect">
            <a:avLst/>
          </a:prstGeom>
          <a:noFill/>
          <a:ln/>
        </p:spPr>
        <p:txBody>
          <a:bodyPr wrap="square" rtlCol="0" anchor="ctr"/>
          <a:lstStyle/>
          <a:p>
            <a:pPr marL="0" indent="0">
              <a:buNone/>
            </a:pPr>
            <a:r>
              <a:rPr lang="en-US" sz="1100" i="1" dirty="0">
                <a:solidFill>
                  <a:srgbClr val="6B7688"/>
                </a:solidFill>
                <a:latin typeface="Calibri" pitchFamily="34" charset="0"/>
                <a:ea typeface="Calibri" pitchFamily="34" charset="-122"/>
                <a:cs typeface="Calibri" pitchFamily="34" charset="-120"/>
              </a:rPr>
              <a:t>Figure 8 · Income by Race</a:t>
            </a:r>
            <a:endParaRPr lang="en-US" sz="1100" dirty="0"/>
          </a:p>
        </p:txBody>
      </p:sp>
      <p:sp>
        <p:nvSpPr>
          <p:cNvPr id="9" name="Text 6"/>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0" name="Text 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Income by Education</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371600"/>
            <a:ext cx="6949440" cy="4937760"/>
          </a:xfrm>
          <a:prstGeom prst="roundRect">
            <a:avLst>
              <a:gd name="adj" fmla="val 2222"/>
            </a:avLst>
          </a:prstGeom>
          <a:solidFill>
            <a:srgbClr val="FFFFFF"/>
          </a:solidFill>
          <a:ln w="12700">
            <a:solidFill>
              <a:srgbClr val="E3E8EF"/>
            </a:solidFill>
            <a:prstDash val="solid"/>
          </a:ln>
          <a:effectLst>
            <a:outerShdw blurRad="101600" dist="38100" dir="5400000" algn="bl" rotWithShape="0">
              <a:srgbClr val="1B2430">
                <a:alpha val="25000"/>
              </a:srgbClr>
            </a:outerShdw>
          </a:effectLst>
        </p:spPr>
        <p:txBody>
          <a:bodyPr/>
          <a:lstStyle/>
          <a:p>
            <a:endParaRPr lang="en-US"/>
          </a:p>
        </p:txBody>
      </p:sp>
      <p:pic>
        <p:nvPicPr>
          <p:cNvPr id="5" name="Image 0" descr="assets/fig-008.png"/>
          <p:cNvPicPr>
            <a:picLocks noChangeAspect="1"/>
          </p:cNvPicPr>
          <p:nvPr/>
        </p:nvPicPr>
        <p:blipFill>
          <a:blip r:embed="rId3"/>
          <a:stretch>
            <a:fillRect/>
          </a:stretch>
        </p:blipFill>
        <p:spPr>
          <a:xfrm>
            <a:off x="822960" y="1645920"/>
            <a:ext cx="6400800" cy="4023360"/>
          </a:xfrm>
          <a:prstGeom prst="rect">
            <a:avLst/>
          </a:prstGeom>
        </p:spPr>
      </p:pic>
      <p:sp>
        <p:nvSpPr>
          <p:cNvPr id="6" name="Text 3"/>
          <p:cNvSpPr/>
          <p:nvPr/>
        </p:nvSpPr>
        <p:spPr>
          <a:xfrm>
            <a:off x="548640" y="5806440"/>
            <a:ext cx="6949440" cy="274320"/>
          </a:xfrm>
          <a:prstGeom prst="rect">
            <a:avLst/>
          </a:prstGeom>
          <a:noFill/>
          <a:ln/>
        </p:spPr>
        <p:txBody>
          <a:bodyPr wrap="square" rtlCol="0" anchor="ctr"/>
          <a:lstStyle/>
          <a:p>
            <a:pPr marL="0" indent="0" algn="ctr">
              <a:buNone/>
            </a:pPr>
            <a:r>
              <a:rPr lang="en-US" sz="1100" dirty="0">
                <a:solidFill>
                  <a:srgbClr val="6B7688"/>
                </a:solidFill>
                <a:latin typeface="Calibri" pitchFamily="34" charset="0"/>
                <a:ea typeface="Calibri" pitchFamily="34" charset="-122"/>
                <a:cs typeface="Calibri" pitchFamily="34" charset="-120"/>
              </a:rPr>
              <a:t>Figure 9 · Education and Income</a:t>
            </a:r>
            <a:endParaRPr lang="en-US" sz="1100" dirty="0"/>
          </a:p>
        </p:txBody>
      </p:sp>
      <p:sp>
        <p:nvSpPr>
          <p:cNvPr id="7" name="Text 4"/>
          <p:cNvSpPr/>
          <p:nvPr/>
        </p:nvSpPr>
        <p:spPr>
          <a:xfrm>
            <a:off x="7772400" y="1691640"/>
            <a:ext cx="3931920" cy="822960"/>
          </a:xfrm>
          <a:prstGeom prst="rect">
            <a:avLst/>
          </a:prstGeom>
          <a:noFill/>
          <a:ln/>
        </p:spPr>
        <p:txBody>
          <a:bodyPr wrap="square" rtlCol="0" anchor="ctr"/>
          <a:lstStyle/>
          <a:p>
            <a:pPr marL="0" indent="0">
              <a:lnSpc>
                <a:spcPct val="115000"/>
              </a:lnSpc>
              <a:buNone/>
            </a:pPr>
            <a:r>
              <a:rPr lang="en-US" sz="1800" b="1" dirty="0">
                <a:solidFill>
                  <a:srgbClr val="1B2430"/>
                </a:solidFill>
                <a:latin typeface="Cambria" pitchFamily="34" charset="0"/>
                <a:ea typeface="Cambria" pitchFamily="34" charset="-122"/>
                <a:cs typeface="Cambria" pitchFamily="34" charset="-120"/>
              </a:rPr>
              <a:t>Education tracks strongly with income</a:t>
            </a:r>
            <a:endParaRPr lang="en-US" sz="1800" dirty="0"/>
          </a:p>
        </p:txBody>
      </p:sp>
      <p:sp>
        <p:nvSpPr>
          <p:cNvPr id="8" name="Text 5"/>
          <p:cNvSpPr/>
          <p:nvPr/>
        </p:nvSpPr>
        <p:spPr>
          <a:xfrm>
            <a:off x="7772400" y="2514600"/>
            <a:ext cx="3931920" cy="2011680"/>
          </a:xfrm>
          <a:prstGeom prst="rect">
            <a:avLst/>
          </a:prstGeom>
          <a:noFill/>
          <a:ln/>
        </p:spPr>
        <p:txBody>
          <a:bodyPr wrap="square" rtlCol="0" anchor="ctr"/>
          <a:lstStyle/>
          <a:p>
            <a:pPr marL="0" indent="0">
              <a:lnSpc>
                <a:spcPct val="130000"/>
              </a:lnSpc>
              <a:buNone/>
            </a:pPr>
            <a:r>
              <a:rPr lang="en-US" sz="1300" dirty="0">
                <a:solidFill>
                  <a:srgbClr val="6B7688"/>
                </a:solidFill>
                <a:latin typeface="Calibri" pitchFamily="34" charset="0"/>
                <a:ea typeface="Calibri" pitchFamily="34" charset="-122"/>
                <a:cs typeface="Calibri" pitchFamily="34" charset="-120"/>
              </a:rPr>
              <a:t>Bachelor's, Master's, Professional-school, and PhD holders earn above $50K at noticeably higher rates than those with less education — the clearest, most consistent signal in the dataset.</a:t>
            </a:r>
            <a:endParaRPr lang="en-US" sz="1300" dirty="0"/>
          </a:p>
        </p:txBody>
      </p:sp>
      <p:sp>
        <p:nvSpPr>
          <p:cNvPr id="9" name="Shape 6"/>
          <p:cNvSpPr/>
          <p:nvPr/>
        </p:nvSpPr>
        <p:spPr>
          <a:xfrm>
            <a:off x="7772400" y="4709160"/>
            <a:ext cx="3931920" cy="1417320"/>
          </a:xfrm>
          <a:prstGeom prst="roundRect">
            <a:avLst>
              <a:gd name="adj" fmla="val 6452"/>
            </a:avLst>
          </a:prstGeom>
          <a:solidFill>
            <a:srgbClr val="065A82"/>
          </a:solidFill>
          <a:ln/>
        </p:spPr>
        <p:txBody>
          <a:bodyPr/>
          <a:lstStyle/>
          <a:p>
            <a:endParaRPr lang="en-US"/>
          </a:p>
        </p:txBody>
      </p:sp>
      <p:sp>
        <p:nvSpPr>
          <p:cNvPr id="10" name="Text 7"/>
          <p:cNvSpPr/>
          <p:nvPr/>
        </p:nvSpPr>
        <p:spPr>
          <a:xfrm>
            <a:off x="8001000" y="4892040"/>
            <a:ext cx="3520440" cy="1051560"/>
          </a:xfrm>
          <a:prstGeom prst="rect">
            <a:avLst/>
          </a:prstGeom>
          <a:noFill/>
          <a:ln/>
        </p:spPr>
        <p:txBody>
          <a:bodyPr wrap="square" rtlCol="0" anchor="ctr"/>
          <a:lstStyle/>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Higher education</a:t>
            </a:r>
            <a:endParaRPr lang="en-US" sz="1300" dirty="0"/>
          </a:p>
          <a:p>
            <a:pPr marL="0" indent="0">
              <a:lnSpc>
                <a:spcPct val="125000"/>
              </a:lnSpc>
              <a:buNone/>
            </a:pPr>
            <a:r>
              <a:rPr lang="en-US" sz="1300" b="1" dirty="0">
                <a:solidFill>
                  <a:srgbClr val="FFFFFF"/>
                </a:solidFill>
                <a:latin typeface="Calibri" pitchFamily="34" charset="0"/>
                <a:ea typeface="Calibri" pitchFamily="34" charset="-122"/>
                <a:cs typeface="Calibri" pitchFamily="34" charset="-120"/>
              </a:rPr>
              <a:t>→ higher likelihood of &gt; $50K income</a:t>
            </a:r>
            <a:endParaRPr lang="en-US" sz="1300" dirty="0"/>
          </a:p>
        </p:txBody>
      </p:sp>
      <p:sp>
        <p:nvSpPr>
          <p:cNvPr id="11" name="Text 8"/>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2"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Biases Found</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600200"/>
            <a:ext cx="3566160" cy="1965960"/>
          </a:xfrm>
          <a:prstGeom prst="roundRect">
            <a:avLst>
              <a:gd name="adj" fmla="val 4651"/>
            </a:avLst>
          </a:prstGeom>
          <a:solidFill>
            <a:srgbClr val="26305F"/>
          </a:solidFill>
          <a:ln/>
        </p:spPr>
        <p:txBody>
          <a:bodyPr/>
          <a:lstStyle/>
          <a:p>
            <a:endParaRPr lang="en-US"/>
          </a:p>
        </p:txBody>
      </p:sp>
      <p:sp>
        <p:nvSpPr>
          <p:cNvPr id="5" name="Shape 3"/>
          <p:cNvSpPr/>
          <p:nvPr/>
        </p:nvSpPr>
        <p:spPr>
          <a:xfrm>
            <a:off x="777240" y="1828800"/>
            <a:ext cx="411480" cy="411480"/>
          </a:xfrm>
          <a:prstGeom prst="ellipse">
            <a:avLst/>
          </a:prstGeom>
          <a:solidFill>
            <a:srgbClr val="F2A65A"/>
          </a:solidFill>
          <a:ln/>
        </p:spPr>
        <p:txBody>
          <a:bodyPr/>
          <a:lstStyle/>
          <a:p>
            <a:endParaRPr lang="en-US"/>
          </a:p>
        </p:txBody>
      </p:sp>
      <p:sp>
        <p:nvSpPr>
          <p:cNvPr id="6" name="Text 4"/>
          <p:cNvSpPr/>
          <p:nvPr/>
        </p:nvSpPr>
        <p:spPr>
          <a:xfrm>
            <a:off x="777240" y="1828800"/>
            <a:ext cx="411480" cy="41148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25880" y="1801368"/>
            <a:ext cx="26060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Gender Bias</a:t>
            </a:r>
            <a:endParaRPr lang="en-US" sz="1500" dirty="0"/>
          </a:p>
        </p:txBody>
      </p:sp>
      <p:sp>
        <p:nvSpPr>
          <p:cNvPr id="8" name="Text 6"/>
          <p:cNvSpPr/>
          <p:nvPr/>
        </p:nvSpPr>
        <p:spPr>
          <a:xfrm>
            <a:off x="777240" y="2377440"/>
            <a:ext cx="3108960" cy="1051560"/>
          </a:xfrm>
          <a:prstGeom prst="rect">
            <a:avLst/>
          </a:prstGeom>
          <a:noFill/>
          <a:ln/>
        </p:spPr>
        <p:txBody>
          <a:bodyPr wrap="square" rtlCol="0" anchor="ctr"/>
          <a:lstStyle/>
          <a:p>
            <a:pPr marL="0" indent="0">
              <a:lnSpc>
                <a:spcPct val="125000"/>
              </a:lnSpc>
              <a:buNone/>
            </a:pPr>
            <a:r>
              <a:rPr lang="en-US" sz="1150" dirty="0">
                <a:solidFill>
                  <a:srgbClr val="C7D3EA"/>
                </a:solidFill>
                <a:latin typeface="Calibri" pitchFamily="34" charset="0"/>
                <a:ea typeface="Calibri" pitchFamily="34" charset="-122"/>
                <a:cs typeface="Calibri" pitchFamily="34" charset="-120"/>
              </a:rPr>
              <a:t>Men are more likely than women to earn more than $50,000.</a:t>
            </a:r>
            <a:endParaRPr lang="en-US" sz="1150" dirty="0"/>
          </a:p>
        </p:txBody>
      </p:sp>
      <p:sp>
        <p:nvSpPr>
          <p:cNvPr id="9" name="Shape 7"/>
          <p:cNvSpPr/>
          <p:nvPr/>
        </p:nvSpPr>
        <p:spPr>
          <a:xfrm>
            <a:off x="4343400" y="1600200"/>
            <a:ext cx="3566160" cy="1965960"/>
          </a:xfrm>
          <a:prstGeom prst="roundRect">
            <a:avLst>
              <a:gd name="adj" fmla="val 4651"/>
            </a:avLst>
          </a:prstGeom>
          <a:solidFill>
            <a:srgbClr val="26305F"/>
          </a:solidFill>
          <a:ln/>
        </p:spPr>
        <p:txBody>
          <a:bodyPr/>
          <a:lstStyle/>
          <a:p>
            <a:endParaRPr lang="en-US"/>
          </a:p>
        </p:txBody>
      </p:sp>
      <p:sp>
        <p:nvSpPr>
          <p:cNvPr id="10" name="Shape 8"/>
          <p:cNvSpPr/>
          <p:nvPr/>
        </p:nvSpPr>
        <p:spPr>
          <a:xfrm>
            <a:off x="4572000" y="1828800"/>
            <a:ext cx="411480" cy="411480"/>
          </a:xfrm>
          <a:prstGeom prst="ellipse">
            <a:avLst/>
          </a:prstGeom>
          <a:solidFill>
            <a:srgbClr val="F2A65A"/>
          </a:solidFill>
          <a:ln/>
        </p:spPr>
        <p:txBody>
          <a:bodyPr/>
          <a:lstStyle/>
          <a:p>
            <a:endParaRPr lang="en-US"/>
          </a:p>
        </p:txBody>
      </p:sp>
      <p:sp>
        <p:nvSpPr>
          <p:cNvPr id="11" name="Text 9"/>
          <p:cNvSpPr/>
          <p:nvPr/>
        </p:nvSpPr>
        <p:spPr>
          <a:xfrm>
            <a:off x="4572000" y="1828800"/>
            <a:ext cx="411480" cy="41148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5120640" y="1801368"/>
            <a:ext cx="26060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Race Bias</a:t>
            </a:r>
            <a:endParaRPr lang="en-US" sz="1500" dirty="0"/>
          </a:p>
        </p:txBody>
      </p:sp>
      <p:sp>
        <p:nvSpPr>
          <p:cNvPr id="13" name="Text 11"/>
          <p:cNvSpPr/>
          <p:nvPr/>
        </p:nvSpPr>
        <p:spPr>
          <a:xfrm>
            <a:off x="4572000" y="2377440"/>
            <a:ext cx="3108960" cy="1051560"/>
          </a:xfrm>
          <a:prstGeom prst="rect">
            <a:avLst/>
          </a:prstGeom>
          <a:noFill/>
          <a:ln/>
        </p:spPr>
        <p:txBody>
          <a:bodyPr wrap="square" rtlCol="0" anchor="ctr"/>
          <a:lstStyle/>
          <a:p>
            <a:pPr marL="0" indent="0">
              <a:lnSpc>
                <a:spcPct val="125000"/>
              </a:lnSpc>
              <a:buNone/>
            </a:pPr>
            <a:r>
              <a:rPr lang="en-US" sz="1150" dirty="0">
                <a:solidFill>
                  <a:srgbClr val="C7D3EA"/>
                </a:solidFill>
                <a:latin typeface="Calibri" pitchFamily="34" charset="0"/>
                <a:ea typeface="Calibri" pitchFamily="34" charset="-122"/>
                <a:cs typeface="Calibri" pitchFamily="34" charset="-120"/>
              </a:rPr>
              <a:t>Minority groups are underrepresented while White individuals dominate the sample.</a:t>
            </a:r>
            <a:endParaRPr lang="en-US" sz="1150" dirty="0"/>
          </a:p>
        </p:txBody>
      </p:sp>
      <p:sp>
        <p:nvSpPr>
          <p:cNvPr id="14" name="Shape 12"/>
          <p:cNvSpPr/>
          <p:nvPr/>
        </p:nvSpPr>
        <p:spPr>
          <a:xfrm>
            <a:off x="8138160" y="1600200"/>
            <a:ext cx="3566160" cy="1965960"/>
          </a:xfrm>
          <a:prstGeom prst="roundRect">
            <a:avLst>
              <a:gd name="adj" fmla="val 4651"/>
            </a:avLst>
          </a:prstGeom>
          <a:solidFill>
            <a:srgbClr val="26305F"/>
          </a:solidFill>
          <a:ln/>
        </p:spPr>
        <p:txBody>
          <a:bodyPr/>
          <a:lstStyle/>
          <a:p>
            <a:endParaRPr lang="en-US"/>
          </a:p>
        </p:txBody>
      </p:sp>
      <p:sp>
        <p:nvSpPr>
          <p:cNvPr id="15" name="Shape 13"/>
          <p:cNvSpPr/>
          <p:nvPr/>
        </p:nvSpPr>
        <p:spPr>
          <a:xfrm>
            <a:off x="8366760" y="1828800"/>
            <a:ext cx="411480" cy="411480"/>
          </a:xfrm>
          <a:prstGeom prst="ellipse">
            <a:avLst/>
          </a:prstGeom>
          <a:solidFill>
            <a:srgbClr val="F2A65A"/>
          </a:solidFill>
          <a:ln/>
        </p:spPr>
        <p:txBody>
          <a:bodyPr/>
          <a:lstStyle/>
          <a:p>
            <a:endParaRPr lang="en-US"/>
          </a:p>
        </p:txBody>
      </p:sp>
      <p:sp>
        <p:nvSpPr>
          <p:cNvPr id="16" name="Text 14"/>
          <p:cNvSpPr/>
          <p:nvPr/>
        </p:nvSpPr>
        <p:spPr>
          <a:xfrm>
            <a:off x="8366760" y="1828800"/>
            <a:ext cx="411480" cy="41148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8915400" y="1801368"/>
            <a:ext cx="26060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Education Bias</a:t>
            </a:r>
            <a:endParaRPr lang="en-US" sz="1500" dirty="0"/>
          </a:p>
        </p:txBody>
      </p:sp>
      <p:sp>
        <p:nvSpPr>
          <p:cNvPr id="18" name="Text 16"/>
          <p:cNvSpPr/>
          <p:nvPr/>
        </p:nvSpPr>
        <p:spPr>
          <a:xfrm>
            <a:off x="8366760" y="2377440"/>
            <a:ext cx="3108960" cy="1051560"/>
          </a:xfrm>
          <a:prstGeom prst="rect">
            <a:avLst/>
          </a:prstGeom>
          <a:noFill/>
          <a:ln/>
        </p:spPr>
        <p:txBody>
          <a:bodyPr wrap="square" rtlCol="0" anchor="ctr"/>
          <a:lstStyle/>
          <a:p>
            <a:pPr marL="0" indent="0">
              <a:lnSpc>
                <a:spcPct val="125000"/>
              </a:lnSpc>
              <a:buNone/>
            </a:pPr>
            <a:r>
              <a:rPr lang="en-US" sz="1150" dirty="0">
                <a:solidFill>
                  <a:srgbClr val="C7D3EA"/>
                </a:solidFill>
                <a:latin typeface="Calibri" pitchFamily="34" charset="0"/>
                <a:ea typeface="Calibri" pitchFamily="34" charset="-122"/>
                <a:cs typeface="Calibri" pitchFamily="34" charset="-120"/>
              </a:rPr>
              <a:t>Higher income is strongly associated with higher levels of education.</a:t>
            </a:r>
            <a:endParaRPr lang="en-US" sz="1150" dirty="0"/>
          </a:p>
        </p:txBody>
      </p:sp>
      <p:sp>
        <p:nvSpPr>
          <p:cNvPr id="19" name="Shape 17"/>
          <p:cNvSpPr/>
          <p:nvPr/>
        </p:nvSpPr>
        <p:spPr>
          <a:xfrm>
            <a:off x="548640" y="3840480"/>
            <a:ext cx="3566160" cy="1965960"/>
          </a:xfrm>
          <a:prstGeom prst="roundRect">
            <a:avLst>
              <a:gd name="adj" fmla="val 4651"/>
            </a:avLst>
          </a:prstGeom>
          <a:solidFill>
            <a:srgbClr val="26305F"/>
          </a:solidFill>
          <a:ln/>
        </p:spPr>
        <p:txBody>
          <a:bodyPr/>
          <a:lstStyle/>
          <a:p>
            <a:endParaRPr lang="en-US"/>
          </a:p>
        </p:txBody>
      </p:sp>
      <p:sp>
        <p:nvSpPr>
          <p:cNvPr id="20" name="Shape 18"/>
          <p:cNvSpPr/>
          <p:nvPr/>
        </p:nvSpPr>
        <p:spPr>
          <a:xfrm>
            <a:off x="777240" y="4069080"/>
            <a:ext cx="411480" cy="411480"/>
          </a:xfrm>
          <a:prstGeom prst="ellipse">
            <a:avLst/>
          </a:prstGeom>
          <a:solidFill>
            <a:srgbClr val="F2A65A"/>
          </a:solidFill>
          <a:ln/>
        </p:spPr>
        <p:txBody>
          <a:bodyPr/>
          <a:lstStyle/>
          <a:p>
            <a:endParaRPr lang="en-US"/>
          </a:p>
        </p:txBody>
      </p:sp>
      <p:sp>
        <p:nvSpPr>
          <p:cNvPr id="21" name="Text 19"/>
          <p:cNvSpPr/>
          <p:nvPr/>
        </p:nvSpPr>
        <p:spPr>
          <a:xfrm>
            <a:off x="777240" y="4069080"/>
            <a:ext cx="411480" cy="41148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25880" y="4041648"/>
            <a:ext cx="26060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Representation Bias</a:t>
            </a:r>
            <a:endParaRPr lang="en-US" sz="1500" dirty="0"/>
          </a:p>
        </p:txBody>
      </p:sp>
      <p:sp>
        <p:nvSpPr>
          <p:cNvPr id="23" name="Text 21"/>
          <p:cNvSpPr/>
          <p:nvPr/>
        </p:nvSpPr>
        <p:spPr>
          <a:xfrm>
            <a:off x="777240" y="4617720"/>
            <a:ext cx="3108960" cy="1051560"/>
          </a:xfrm>
          <a:prstGeom prst="rect">
            <a:avLst/>
          </a:prstGeom>
          <a:noFill/>
          <a:ln/>
        </p:spPr>
        <p:txBody>
          <a:bodyPr wrap="square" rtlCol="0" anchor="ctr"/>
          <a:lstStyle/>
          <a:p>
            <a:pPr marL="0" indent="0">
              <a:lnSpc>
                <a:spcPct val="125000"/>
              </a:lnSpc>
              <a:buNone/>
            </a:pPr>
            <a:r>
              <a:rPr lang="en-US" sz="1150" dirty="0">
                <a:solidFill>
                  <a:srgbClr val="C7D3EA"/>
                </a:solidFill>
                <a:latin typeface="Calibri" pitchFamily="34" charset="0"/>
                <a:ea typeface="Calibri" pitchFamily="34" charset="-122"/>
                <a:cs typeface="Calibri" pitchFamily="34" charset="-120"/>
              </a:rPr>
              <a:t>The dataset is unevenly distributed across demographic groups.</a:t>
            </a:r>
            <a:endParaRPr lang="en-US" sz="1150" dirty="0"/>
          </a:p>
        </p:txBody>
      </p:sp>
      <p:sp>
        <p:nvSpPr>
          <p:cNvPr id="24" name="Shape 22"/>
          <p:cNvSpPr/>
          <p:nvPr/>
        </p:nvSpPr>
        <p:spPr>
          <a:xfrm>
            <a:off x="4343400" y="3840480"/>
            <a:ext cx="3566160" cy="1965960"/>
          </a:xfrm>
          <a:prstGeom prst="roundRect">
            <a:avLst>
              <a:gd name="adj" fmla="val 4651"/>
            </a:avLst>
          </a:prstGeom>
          <a:solidFill>
            <a:srgbClr val="26305F"/>
          </a:solidFill>
          <a:ln/>
        </p:spPr>
        <p:txBody>
          <a:bodyPr/>
          <a:lstStyle/>
          <a:p>
            <a:endParaRPr lang="en-US"/>
          </a:p>
        </p:txBody>
      </p:sp>
      <p:sp>
        <p:nvSpPr>
          <p:cNvPr id="25" name="Shape 23"/>
          <p:cNvSpPr/>
          <p:nvPr/>
        </p:nvSpPr>
        <p:spPr>
          <a:xfrm>
            <a:off x="4572000" y="4069080"/>
            <a:ext cx="411480" cy="411480"/>
          </a:xfrm>
          <a:prstGeom prst="ellipse">
            <a:avLst/>
          </a:prstGeom>
          <a:solidFill>
            <a:srgbClr val="F2A65A"/>
          </a:solidFill>
          <a:ln/>
        </p:spPr>
        <p:txBody>
          <a:bodyPr/>
          <a:lstStyle/>
          <a:p>
            <a:endParaRPr lang="en-US"/>
          </a:p>
        </p:txBody>
      </p:sp>
      <p:sp>
        <p:nvSpPr>
          <p:cNvPr id="26" name="Text 24"/>
          <p:cNvSpPr/>
          <p:nvPr/>
        </p:nvSpPr>
        <p:spPr>
          <a:xfrm>
            <a:off x="4572000" y="4069080"/>
            <a:ext cx="411480" cy="411480"/>
          </a:xfrm>
          <a:prstGeom prst="rect">
            <a:avLst/>
          </a:prstGeom>
          <a:noFill/>
          <a:ln/>
        </p:spPr>
        <p:txBody>
          <a:bodyPr wrap="square" rtlCol="0" anchor="ctr"/>
          <a:lstStyle/>
          <a:p>
            <a:pPr marL="0" indent="0" algn="ctr">
              <a:buNone/>
            </a:pPr>
            <a:r>
              <a:rPr lang="en-US" sz="1500" b="1" dirty="0">
                <a:solidFill>
                  <a:srgbClr val="21295C"/>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5120640" y="4041648"/>
            <a:ext cx="2606040" cy="4572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Historical Bias</a:t>
            </a:r>
            <a:endParaRPr lang="en-US" sz="1500" dirty="0"/>
          </a:p>
        </p:txBody>
      </p:sp>
      <p:sp>
        <p:nvSpPr>
          <p:cNvPr id="28" name="Text 26"/>
          <p:cNvSpPr/>
          <p:nvPr/>
        </p:nvSpPr>
        <p:spPr>
          <a:xfrm>
            <a:off x="4572000" y="4617720"/>
            <a:ext cx="3108960" cy="1051560"/>
          </a:xfrm>
          <a:prstGeom prst="rect">
            <a:avLst/>
          </a:prstGeom>
          <a:noFill/>
          <a:ln/>
        </p:spPr>
        <p:txBody>
          <a:bodyPr wrap="square" rtlCol="0" anchor="ctr"/>
          <a:lstStyle/>
          <a:p>
            <a:pPr marL="0" indent="0">
              <a:lnSpc>
                <a:spcPct val="125000"/>
              </a:lnSpc>
              <a:buNone/>
            </a:pPr>
            <a:r>
              <a:rPr lang="en-US" sz="1150" dirty="0">
                <a:solidFill>
                  <a:srgbClr val="C7D3EA"/>
                </a:solidFill>
                <a:latin typeface="Calibri" pitchFamily="34" charset="0"/>
                <a:ea typeface="Calibri" pitchFamily="34" charset="-122"/>
                <a:cs typeface="Calibri" pitchFamily="34" charset="-120"/>
              </a:rPr>
              <a:t>The data reflects the 1994 U.S. Census's socioeconomic conditions of that era.</a:t>
            </a:r>
            <a:endParaRPr lang="en-US" sz="1150" dirty="0"/>
          </a:p>
        </p:txBody>
      </p:sp>
      <p:sp>
        <p:nvSpPr>
          <p:cNvPr id="29" name="Text 2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Text 2"/>
          <p:cNvSpPr/>
          <p:nvPr/>
        </p:nvSpPr>
        <p:spPr>
          <a:xfrm>
            <a:off x="548640" y="1417320"/>
            <a:ext cx="6583680" cy="1463040"/>
          </a:xfrm>
          <a:prstGeom prst="rect">
            <a:avLst/>
          </a:prstGeom>
          <a:noFill/>
          <a:ln/>
        </p:spPr>
        <p:txBody>
          <a:bodyPr wrap="square" rtlCol="0" anchor="ctr"/>
          <a:lstStyle/>
          <a:p>
            <a:pPr marL="0" indent="0">
              <a:lnSpc>
                <a:spcPct val="135000"/>
              </a:lnSpc>
              <a:buNone/>
            </a:pPr>
            <a:r>
              <a:rPr lang="en-US" sz="1500" dirty="0">
                <a:solidFill>
                  <a:srgbClr val="1B2430"/>
                </a:solidFill>
                <a:latin typeface="Calibri" pitchFamily="34" charset="0"/>
                <a:ea typeface="Calibri" pitchFamily="34" charset="-122"/>
                <a:cs typeface="Calibri" pitchFamily="34" charset="-120"/>
              </a:rPr>
              <a:t>The Adult Income Dataset carries clear socioeconomic and demographic biases. Income distribution varies meaningfully by gender, race, and education, and several groups are conspicuously underrepresented in the sample.</a:t>
            </a:r>
            <a:endParaRPr lang="en-US" sz="1500" dirty="0"/>
          </a:p>
        </p:txBody>
      </p:sp>
      <p:sp>
        <p:nvSpPr>
          <p:cNvPr id="5" name="Text 3"/>
          <p:cNvSpPr/>
          <p:nvPr/>
        </p:nvSpPr>
        <p:spPr>
          <a:xfrm>
            <a:off x="548640" y="3063240"/>
            <a:ext cx="6583680" cy="1645920"/>
          </a:xfrm>
          <a:prstGeom prst="rect">
            <a:avLst/>
          </a:prstGeom>
          <a:noFill/>
          <a:ln/>
        </p:spPr>
        <p:txBody>
          <a:bodyPr wrap="square" rtlCol="0" anchor="ctr"/>
          <a:lstStyle/>
          <a:p>
            <a:pPr marL="0" indent="0">
              <a:lnSpc>
                <a:spcPct val="135000"/>
              </a:lnSpc>
              <a:buNone/>
            </a:pPr>
            <a:r>
              <a:rPr lang="en-US" sz="1500" dirty="0">
                <a:solidFill>
                  <a:srgbClr val="1B2430"/>
                </a:solidFill>
                <a:latin typeface="Calibri" pitchFamily="34" charset="0"/>
                <a:ea typeface="Calibri" pitchFamily="34" charset="-122"/>
                <a:cs typeface="Calibri" pitchFamily="34" charset="-120"/>
              </a:rPr>
              <a:t>These findings underscore why datasets need a fairness audit before they're used to train machine learning models. Fairness-aware techniques and more representative data collection can help reduce prejudice and support responsible AI development.</a:t>
            </a:r>
            <a:endParaRPr lang="en-US" sz="1500" dirty="0"/>
          </a:p>
        </p:txBody>
      </p:sp>
      <p:sp>
        <p:nvSpPr>
          <p:cNvPr id="6" name="Shape 4"/>
          <p:cNvSpPr/>
          <p:nvPr/>
        </p:nvSpPr>
        <p:spPr>
          <a:xfrm>
            <a:off x="7498080" y="1417320"/>
            <a:ext cx="4114800" cy="4754880"/>
          </a:xfrm>
          <a:prstGeom prst="roundRect">
            <a:avLst>
              <a:gd name="adj" fmla="val 2667"/>
            </a:avLst>
          </a:prstGeom>
          <a:solidFill>
            <a:srgbClr val="21295C"/>
          </a:solidFill>
          <a:ln/>
        </p:spPr>
        <p:txBody>
          <a:bodyPr/>
          <a:lstStyle/>
          <a:p>
            <a:endParaRPr lang="en-US"/>
          </a:p>
        </p:txBody>
      </p:sp>
      <p:sp>
        <p:nvSpPr>
          <p:cNvPr id="7" name="Text 5"/>
          <p:cNvSpPr/>
          <p:nvPr/>
        </p:nvSpPr>
        <p:spPr>
          <a:xfrm>
            <a:off x="7772400" y="1691640"/>
            <a:ext cx="3566160" cy="411480"/>
          </a:xfrm>
          <a:prstGeom prst="rect">
            <a:avLst/>
          </a:prstGeom>
          <a:noFill/>
          <a:ln/>
        </p:spPr>
        <p:txBody>
          <a:bodyPr wrap="square" rtlCol="0" anchor="ctr"/>
          <a:lstStyle/>
          <a:p>
            <a:pPr marL="0" indent="0">
              <a:buNone/>
            </a:pPr>
            <a:r>
              <a:rPr lang="en-US" sz="1300" b="1" kern="0" spc="100" dirty="0">
                <a:solidFill>
                  <a:srgbClr val="F2A65A"/>
                </a:solidFill>
                <a:latin typeface="Calibri" pitchFamily="34" charset="0"/>
                <a:ea typeface="Calibri" pitchFamily="34" charset="-122"/>
                <a:cs typeface="Calibri" pitchFamily="34" charset="-120"/>
              </a:rPr>
              <a:t>Key Takeaway</a:t>
            </a:r>
            <a:endParaRPr lang="en-US" sz="1300" dirty="0"/>
          </a:p>
        </p:txBody>
      </p:sp>
      <p:sp>
        <p:nvSpPr>
          <p:cNvPr id="8" name="Text 6"/>
          <p:cNvSpPr/>
          <p:nvPr/>
        </p:nvSpPr>
        <p:spPr>
          <a:xfrm>
            <a:off x="7772400" y="2148840"/>
            <a:ext cx="3566160" cy="9144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Audit before you train.</a:t>
            </a:r>
            <a:endParaRPr lang="en-US" sz="2600" dirty="0"/>
          </a:p>
        </p:txBody>
      </p:sp>
      <p:sp>
        <p:nvSpPr>
          <p:cNvPr id="9" name="Text 7"/>
          <p:cNvSpPr/>
          <p:nvPr/>
        </p:nvSpPr>
        <p:spPr>
          <a:xfrm>
            <a:off x="7772400" y="3200400"/>
            <a:ext cx="3566160" cy="1828800"/>
          </a:xfrm>
          <a:prstGeom prst="rect">
            <a:avLst/>
          </a:prstGeom>
          <a:noFill/>
          <a:ln/>
        </p:spPr>
        <p:txBody>
          <a:bodyPr wrap="square" rtlCol="0" anchor="ctr"/>
          <a:lstStyle/>
          <a:p>
            <a:pPr marL="0" indent="0">
              <a:lnSpc>
                <a:spcPct val="130000"/>
              </a:lnSpc>
              <a:buNone/>
            </a:pPr>
            <a:r>
              <a:rPr lang="en-US" sz="1300" dirty="0">
                <a:solidFill>
                  <a:srgbClr val="CADCFC"/>
                </a:solidFill>
                <a:latin typeface="Calibri" pitchFamily="34" charset="0"/>
                <a:ea typeface="Calibri" pitchFamily="34" charset="-122"/>
                <a:cs typeface="Calibri" pitchFamily="34" charset="-120"/>
              </a:rPr>
              <a:t>Detecting demographic imbalance in training data is a prerequisite for building equitable, responsible AI systems — not an afterthought.</a:t>
            </a:r>
            <a:endParaRPr lang="en-US" sz="1300" dirty="0"/>
          </a:p>
        </p:txBody>
      </p:sp>
      <p:sp>
        <p:nvSpPr>
          <p:cNvPr id="10" name="Text 8"/>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1" name="Text 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References</a:t>
            </a:r>
            <a:endParaRPr lang="en-US" sz="3000" dirty="0"/>
          </a:p>
        </p:txBody>
      </p:sp>
      <p:sp>
        <p:nvSpPr>
          <p:cNvPr id="3" name="Shape 1"/>
          <p:cNvSpPr/>
          <p:nvPr/>
        </p:nvSpPr>
        <p:spPr>
          <a:xfrm>
            <a:off x="548640" y="1051560"/>
            <a:ext cx="822960" cy="54864"/>
          </a:xfrm>
          <a:prstGeom prst="rect">
            <a:avLst/>
          </a:prstGeom>
          <a:solidFill>
            <a:srgbClr val="F2A65A"/>
          </a:solidFill>
          <a:ln/>
        </p:spPr>
        <p:txBody>
          <a:bodyPr/>
          <a:lstStyle/>
          <a:p>
            <a:endParaRPr lang="en-US"/>
          </a:p>
        </p:txBody>
      </p:sp>
      <p:sp>
        <p:nvSpPr>
          <p:cNvPr id="4" name="Shape 2"/>
          <p:cNvSpPr/>
          <p:nvPr/>
        </p:nvSpPr>
        <p:spPr>
          <a:xfrm>
            <a:off x="548640" y="1645920"/>
            <a:ext cx="109728" cy="109728"/>
          </a:xfrm>
          <a:prstGeom prst="ellipse">
            <a:avLst/>
          </a:prstGeom>
          <a:solidFill>
            <a:srgbClr val="065A82"/>
          </a:solidFill>
          <a:ln/>
        </p:spPr>
        <p:txBody>
          <a:bodyPr/>
          <a:lstStyle/>
          <a:p>
            <a:endParaRPr lang="en-US"/>
          </a:p>
        </p:txBody>
      </p:sp>
      <p:sp>
        <p:nvSpPr>
          <p:cNvPr id="5" name="Text 3"/>
          <p:cNvSpPr/>
          <p:nvPr/>
        </p:nvSpPr>
        <p:spPr>
          <a:xfrm>
            <a:off x="868680" y="1490472"/>
            <a:ext cx="9601200" cy="4572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UCI Machine Learning Repository. Adult Dataset.</a:t>
            </a:r>
            <a:endParaRPr lang="en-US" sz="1400" dirty="0"/>
          </a:p>
        </p:txBody>
      </p:sp>
      <p:sp>
        <p:nvSpPr>
          <p:cNvPr id="6" name="Shape 4"/>
          <p:cNvSpPr/>
          <p:nvPr/>
        </p:nvSpPr>
        <p:spPr>
          <a:xfrm>
            <a:off x="548640" y="2331720"/>
            <a:ext cx="109728" cy="109728"/>
          </a:xfrm>
          <a:prstGeom prst="ellipse">
            <a:avLst/>
          </a:prstGeom>
          <a:solidFill>
            <a:srgbClr val="065A82"/>
          </a:solidFill>
          <a:ln/>
        </p:spPr>
        <p:txBody>
          <a:bodyPr/>
          <a:lstStyle/>
          <a:p>
            <a:endParaRPr lang="en-US"/>
          </a:p>
        </p:txBody>
      </p:sp>
      <p:sp>
        <p:nvSpPr>
          <p:cNvPr id="7" name="Text 5"/>
          <p:cNvSpPr/>
          <p:nvPr/>
        </p:nvSpPr>
        <p:spPr>
          <a:xfrm>
            <a:off x="868680" y="2176272"/>
            <a:ext cx="9601200" cy="4572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Dua, D., &amp; Graff, C. UCI Machine Learning Repository.</a:t>
            </a:r>
            <a:endParaRPr lang="en-US" sz="1400" dirty="0"/>
          </a:p>
        </p:txBody>
      </p:sp>
      <p:sp>
        <p:nvSpPr>
          <p:cNvPr id="8" name="Shape 6"/>
          <p:cNvSpPr/>
          <p:nvPr/>
        </p:nvSpPr>
        <p:spPr>
          <a:xfrm>
            <a:off x="548640" y="3017520"/>
            <a:ext cx="109728" cy="109728"/>
          </a:xfrm>
          <a:prstGeom prst="ellipse">
            <a:avLst/>
          </a:prstGeom>
          <a:solidFill>
            <a:srgbClr val="065A82"/>
          </a:solidFill>
          <a:ln/>
        </p:spPr>
        <p:txBody>
          <a:bodyPr/>
          <a:lstStyle/>
          <a:p>
            <a:endParaRPr lang="en-US"/>
          </a:p>
        </p:txBody>
      </p:sp>
      <p:sp>
        <p:nvSpPr>
          <p:cNvPr id="9" name="Text 7"/>
          <p:cNvSpPr/>
          <p:nvPr/>
        </p:nvSpPr>
        <p:spPr>
          <a:xfrm>
            <a:off x="868680" y="2862072"/>
            <a:ext cx="9601200" cy="4572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Barocas, S., Hardt, M., &amp; Narayanan, A. Fairness and Machine Learning.</a:t>
            </a:r>
            <a:endParaRPr lang="en-US" sz="1400" dirty="0"/>
          </a:p>
        </p:txBody>
      </p:sp>
      <p:sp>
        <p:nvSpPr>
          <p:cNvPr id="10" name="Shape 8"/>
          <p:cNvSpPr/>
          <p:nvPr/>
        </p:nvSpPr>
        <p:spPr>
          <a:xfrm>
            <a:off x="548640" y="3703320"/>
            <a:ext cx="109728" cy="109728"/>
          </a:xfrm>
          <a:prstGeom prst="ellipse">
            <a:avLst/>
          </a:prstGeom>
          <a:solidFill>
            <a:srgbClr val="065A82"/>
          </a:solidFill>
          <a:ln/>
        </p:spPr>
        <p:txBody>
          <a:bodyPr/>
          <a:lstStyle/>
          <a:p>
            <a:endParaRPr lang="en-US"/>
          </a:p>
        </p:txBody>
      </p:sp>
      <p:sp>
        <p:nvSpPr>
          <p:cNvPr id="11" name="Text 9"/>
          <p:cNvSpPr/>
          <p:nvPr/>
        </p:nvSpPr>
        <p:spPr>
          <a:xfrm>
            <a:off x="868680" y="3547872"/>
            <a:ext cx="9601200" cy="4572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Mehrabi, N., et al. (2021). A Survey on Bias and Fairness in Machine Learning.</a:t>
            </a:r>
            <a:endParaRPr lang="en-US" sz="1400" dirty="0"/>
          </a:p>
        </p:txBody>
      </p:sp>
      <p:sp>
        <p:nvSpPr>
          <p:cNvPr id="12" name="Shape 10"/>
          <p:cNvSpPr/>
          <p:nvPr/>
        </p:nvSpPr>
        <p:spPr>
          <a:xfrm>
            <a:off x="548640" y="4389120"/>
            <a:ext cx="109728" cy="109728"/>
          </a:xfrm>
          <a:prstGeom prst="ellipse">
            <a:avLst/>
          </a:prstGeom>
          <a:solidFill>
            <a:srgbClr val="065A82"/>
          </a:solidFill>
          <a:ln/>
        </p:spPr>
        <p:txBody>
          <a:bodyPr/>
          <a:lstStyle/>
          <a:p>
            <a:endParaRPr lang="en-US"/>
          </a:p>
        </p:txBody>
      </p:sp>
      <p:sp>
        <p:nvSpPr>
          <p:cNvPr id="13" name="Text 11"/>
          <p:cNvSpPr/>
          <p:nvPr/>
        </p:nvSpPr>
        <p:spPr>
          <a:xfrm>
            <a:off x="868680" y="4233672"/>
            <a:ext cx="9601200" cy="4572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IBM AI Fairness 360 Documentation.</a:t>
            </a:r>
            <a:endParaRPr lang="en-US" sz="1400" dirty="0"/>
          </a:p>
        </p:txBody>
      </p:sp>
      <p:sp>
        <p:nvSpPr>
          <p:cNvPr id="14" name="Text 12"/>
          <p:cNvSpPr/>
          <p:nvPr/>
        </p:nvSpPr>
        <p:spPr>
          <a:xfrm>
            <a:off x="457200" y="6400800"/>
            <a:ext cx="5486400" cy="274320"/>
          </a:xfrm>
          <a:prstGeom prst="rect">
            <a:avLst/>
          </a:prstGeom>
          <a:noFill/>
          <a:ln/>
        </p:spPr>
        <p:txBody>
          <a:bodyPr wrap="square" rtlCol="0" anchor="ctr"/>
          <a:lstStyle/>
          <a:p>
            <a:pPr marL="0" indent="0">
              <a:buNone/>
            </a:pPr>
            <a:r>
              <a:rPr lang="en-US" sz="900" kern="0" spc="100" dirty="0">
                <a:solidFill>
                  <a:srgbClr val="6B7688"/>
                </a:solidFill>
                <a:latin typeface="Calibri" pitchFamily="34" charset="0"/>
                <a:ea typeface="Calibri" pitchFamily="34" charset="-122"/>
                <a:cs typeface="Calibri" pitchFamily="34" charset="-120"/>
              </a:rPr>
              <a:t>ADULT INCOME DATASET BIAS</a:t>
            </a:r>
            <a:endParaRPr lang="en-US" sz="900" dirty="0"/>
          </a:p>
        </p:txBody>
      </p:sp>
      <p:sp>
        <p:nvSpPr>
          <p:cNvPr id="15" name="Text 1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6B768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943</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 Kumar Chary Valaboju</cp:lastModifiedBy>
  <cp:revision>3</cp:revision>
  <dcterms:created xsi:type="dcterms:W3CDTF">2026-07-16T04:42:16Z</dcterms:created>
  <dcterms:modified xsi:type="dcterms:W3CDTF">2026-07-16T21:08:16Z</dcterms:modified>
</cp:coreProperties>
</file>